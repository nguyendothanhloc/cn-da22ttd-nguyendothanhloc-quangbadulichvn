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8002"/>
    <a:srgbClr val="291654"/>
    <a:srgbClr val="C7881C"/>
    <a:srgbClr val="CFA255"/>
    <a:srgbClr val="9C9C00"/>
    <a:srgbClr val="7D7D0B"/>
    <a:srgbClr val="296B11"/>
    <a:srgbClr val="1B3B0F"/>
    <a:srgbClr val="275417"/>
    <a:srgbClr val="F5F5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015C94-38B1-4BB6-8308-03D160EA7DA5}" v="672" dt="2026-01-08T06:50:38.335"/>
    <p1510:client id="{AD61A474-C201-CB78-BB6B-6BB6C6D7FA32}" v="4995" dt="2026-01-08T08:30:44.4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E973FC6-3005-C510-9433-2F2A5EE31BAE}"/>
              </a:ext>
            </a:extLst>
          </p:cNvPr>
          <p:cNvSpPr txBox="1"/>
          <p:nvPr/>
        </p:nvSpPr>
        <p:spPr>
          <a:xfrm>
            <a:off x="6664619" y="1449278"/>
            <a:ext cx="3823876"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ea typeface="Calibri"/>
                <a:cs typeface="Calibri"/>
              </a:rPr>
              <a:t>XÂY DỰNG WEBSITE QUẢNG BÁ VÀ ĐẶT VÉ DU LỊCH</a:t>
            </a:r>
            <a:endParaRPr lang="en-US" dirty="0"/>
          </a:p>
          <a:p>
            <a:r>
              <a:rPr lang="en-US" sz="4000" dirty="0">
                <a:ea typeface="Calibri"/>
                <a:cs typeface="Calibri"/>
              </a:rPr>
              <a:t> VIỆT NAM</a:t>
            </a:r>
            <a:endParaRPr lang="en-US"/>
          </a:p>
        </p:txBody>
      </p:sp>
      <p:pic>
        <p:nvPicPr>
          <p:cNvPr id="7" name="Picture 6">
            <a:extLst>
              <a:ext uri="{FF2B5EF4-FFF2-40B4-BE49-F238E27FC236}">
                <a16:creationId xmlns:a16="http://schemas.microsoft.com/office/drawing/2014/main" id="{9E1AA7DA-3896-9845-B344-72EA2EDE1050}"/>
              </a:ext>
            </a:extLst>
          </p:cNvPr>
          <p:cNvPicPr>
            <a:picLocks noChangeAspect="1"/>
          </p:cNvPicPr>
          <p:nvPr/>
        </p:nvPicPr>
        <p:blipFill>
          <a:blip r:embed="rId2"/>
          <a:stretch>
            <a:fillRect/>
          </a:stretch>
        </p:blipFill>
        <p:spPr>
          <a:xfrm>
            <a:off x="384284" y="1451578"/>
            <a:ext cx="5905500" cy="3324225"/>
          </a:xfrm>
          <a:prstGeom prst="rect">
            <a:avLst/>
          </a:prstGeom>
        </p:spPr>
      </p:pic>
      <p:cxnSp>
        <p:nvCxnSpPr>
          <p:cNvPr id="13" name="Straight Arrow Connector 12">
            <a:extLst>
              <a:ext uri="{FF2B5EF4-FFF2-40B4-BE49-F238E27FC236}">
                <a16:creationId xmlns:a16="http://schemas.microsoft.com/office/drawing/2014/main" id="{E2CBAF80-1A24-EE90-93BA-C22DC1628B2E}"/>
              </a:ext>
            </a:extLst>
          </p:cNvPr>
          <p:cNvCxnSpPr/>
          <p:nvPr/>
        </p:nvCxnSpPr>
        <p:spPr>
          <a:xfrm>
            <a:off x="379893" y="4942881"/>
            <a:ext cx="11632110" cy="24825"/>
          </a:xfrm>
          <a:prstGeom prst="straightConnector1">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483EE0E5-76A5-96A3-1F87-B5187B8E0E1A}"/>
              </a:ext>
            </a:extLst>
          </p:cNvPr>
          <p:cNvSpPr txBox="1"/>
          <p:nvPr/>
        </p:nvSpPr>
        <p:spPr>
          <a:xfrm>
            <a:off x="7312925" y="4378656"/>
            <a:ext cx="4276298" cy="23428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B58DD8C9-563B-56F4-A5DA-E8BFD65ECDE3}"/>
              </a:ext>
            </a:extLst>
          </p:cNvPr>
          <p:cNvSpPr txBox="1"/>
          <p:nvPr/>
        </p:nvSpPr>
        <p:spPr>
          <a:xfrm>
            <a:off x="6661217" y="5094380"/>
            <a:ext cx="370587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Calibri"/>
                <a:ea typeface="Calibri"/>
                <a:cs typeface="Arial"/>
              </a:rPr>
              <a:t>Sinh </a:t>
            </a:r>
            <a:r>
              <a:rPr lang="en-US" dirty="0" err="1">
                <a:latin typeface="Calibri"/>
                <a:ea typeface="Calibri"/>
                <a:cs typeface="Arial"/>
              </a:rPr>
              <a:t>viên</a:t>
            </a:r>
            <a:r>
              <a:rPr lang="en-US" dirty="0">
                <a:latin typeface="Calibri"/>
                <a:ea typeface="Calibri"/>
                <a:cs typeface="Arial"/>
              </a:rPr>
              <a:t> </a:t>
            </a:r>
            <a:r>
              <a:rPr lang="en-US" dirty="0" err="1">
                <a:latin typeface="Calibri"/>
                <a:ea typeface="Calibri"/>
                <a:cs typeface="Arial"/>
              </a:rPr>
              <a:t>thực</a:t>
            </a:r>
            <a:r>
              <a:rPr lang="en-US" dirty="0">
                <a:latin typeface="Calibri"/>
                <a:ea typeface="Calibri"/>
                <a:cs typeface="Arial"/>
              </a:rPr>
              <a:t> </a:t>
            </a:r>
            <a:r>
              <a:rPr lang="en-US" dirty="0" err="1">
                <a:latin typeface="Calibri"/>
                <a:ea typeface="Calibri"/>
                <a:cs typeface="Arial"/>
              </a:rPr>
              <a:t>hiện</a:t>
            </a:r>
            <a:r>
              <a:rPr lang="en-US" dirty="0">
                <a:latin typeface="Calibri"/>
                <a:ea typeface="Calibri"/>
                <a:cs typeface="Arial"/>
              </a:rPr>
              <a:t>: </a:t>
            </a:r>
            <a:endParaRPr lang="en-US" dirty="0">
              <a:latin typeface="Calibri"/>
              <a:ea typeface="Calibri"/>
              <a:cs typeface="Calibri"/>
            </a:endParaRPr>
          </a:p>
          <a:p>
            <a:r>
              <a:rPr lang="en-US" dirty="0" err="1">
                <a:latin typeface="Calibri"/>
                <a:ea typeface="Calibri"/>
                <a:cs typeface="Arial"/>
              </a:rPr>
              <a:t>Họ</a:t>
            </a:r>
            <a:r>
              <a:rPr lang="en-US" dirty="0">
                <a:latin typeface="Calibri"/>
                <a:ea typeface="Calibri"/>
                <a:cs typeface="Arial"/>
              </a:rPr>
              <a:t> </a:t>
            </a:r>
            <a:r>
              <a:rPr lang="en-US" dirty="0" err="1">
                <a:latin typeface="Calibri"/>
                <a:ea typeface="Calibri"/>
                <a:cs typeface="Arial"/>
              </a:rPr>
              <a:t>và</a:t>
            </a:r>
            <a:r>
              <a:rPr lang="en-US" dirty="0">
                <a:latin typeface="Calibri"/>
                <a:ea typeface="Calibri"/>
                <a:cs typeface="Arial"/>
              </a:rPr>
              <a:t> </a:t>
            </a:r>
            <a:r>
              <a:rPr lang="en-US" dirty="0" err="1">
                <a:latin typeface="Calibri"/>
                <a:ea typeface="Calibri"/>
                <a:cs typeface="Arial"/>
              </a:rPr>
              <a:t>tên</a:t>
            </a:r>
            <a:r>
              <a:rPr lang="en-US" dirty="0">
                <a:latin typeface="Calibri"/>
                <a:ea typeface="Calibri"/>
                <a:cs typeface="Arial"/>
              </a:rPr>
              <a:t>: Nguyễn </a:t>
            </a:r>
            <a:r>
              <a:rPr lang="en-US" dirty="0" err="1">
                <a:latin typeface="Calibri"/>
                <a:ea typeface="Calibri"/>
                <a:cs typeface="Arial"/>
              </a:rPr>
              <a:t>Đỗ</a:t>
            </a:r>
            <a:r>
              <a:rPr lang="en-US" dirty="0">
                <a:latin typeface="Calibri"/>
                <a:ea typeface="Calibri"/>
                <a:cs typeface="Arial"/>
              </a:rPr>
              <a:t> Thành </a:t>
            </a:r>
            <a:r>
              <a:rPr lang="en-US" dirty="0" err="1">
                <a:latin typeface="Calibri"/>
                <a:ea typeface="Calibri"/>
                <a:cs typeface="Arial"/>
              </a:rPr>
              <a:t>Lộc</a:t>
            </a:r>
            <a:endParaRPr lang="en-US" dirty="0" err="1">
              <a:latin typeface="Calibri"/>
              <a:ea typeface="Calibri"/>
              <a:cs typeface="Calibri"/>
            </a:endParaRPr>
          </a:p>
          <a:p>
            <a:r>
              <a:rPr lang="en-US" dirty="0" err="1">
                <a:latin typeface="Calibri"/>
                <a:ea typeface="Calibri"/>
                <a:cs typeface="Arial"/>
              </a:rPr>
              <a:t>Mã</a:t>
            </a:r>
            <a:r>
              <a:rPr lang="en-US" dirty="0">
                <a:latin typeface="Calibri"/>
                <a:ea typeface="Calibri"/>
                <a:cs typeface="Arial"/>
              </a:rPr>
              <a:t> </a:t>
            </a:r>
            <a:r>
              <a:rPr lang="en-US" dirty="0" err="1">
                <a:latin typeface="Calibri"/>
                <a:ea typeface="Calibri"/>
                <a:cs typeface="Arial"/>
              </a:rPr>
              <a:t>lớp</a:t>
            </a:r>
            <a:r>
              <a:rPr lang="en-US" dirty="0">
                <a:latin typeface="Calibri"/>
                <a:ea typeface="Calibri"/>
                <a:cs typeface="Arial"/>
              </a:rPr>
              <a:t>: DA22TTD</a:t>
            </a:r>
            <a:endParaRPr lang="en-US" dirty="0">
              <a:latin typeface="Calibri"/>
              <a:ea typeface="Calibri"/>
              <a:cs typeface="Calibri"/>
            </a:endParaRPr>
          </a:p>
          <a:p>
            <a:r>
              <a:rPr lang="en-US" dirty="0">
                <a:latin typeface="Calibri"/>
                <a:ea typeface="Calibri"/>
                <a:cs typeface="Arial"/>
              </a:rPr>
              <a:t>MSSV: 110122105</a:t>
            </a:r>
            <a:endParaRPr lang="en-US" dirty="0">
              <a:latin typeface="Calibri"/>
              <a:ea typeface="Calibri"/>
              <a:cs typeface="Calibri"/>
            </a:endParaRPr>
          </a:p>
          <a:p>
            <a:pPr algn="l"/>
            <a:endParaRPr lang="en-US" dirty="0">
              <a:latin typeface="Calibri"/>
              <a:ea typeface="Calibri"/>
              <a:cs typeface="Calibri"/>
            </a:endParaRPr>
          </a:p>
        </p:txBody>
      </p:sp>
      <p:sp>
        <p:nvSpPr>
          <p:cNvPr id="11" name="TextBox 10">
            <a:extLst>
              <a:ext uri="{FF2B5EF4-FFF2-40B4-BE49-F238E27FC236}">
                <a16:creationId xmlns:a16="http://schemas.microsoft.com/office/drawing/2014/main" id="{CC860E29-C7BF-AD0D-CC4C-1D88DC9CAE9B}"/>
              </a:ext>
            </a:extLst>
          </p:cNvPr>
          <p:cNvSpPr txBox="1"/>
          <p:nvPr/>
        </p:nvSpPr>
        <p:spPr>
          <a:xfrm>
            <a:off x="378842" y="5094380"/>
            <a:ext cx="370587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latin typeface="Calibri"/>
                <a:ea typeface="Calibri"/>
                <a:cs typeface="Arial"/>
              </a:rPr>
              <a:t>Giáo</a:t>
            </a:r>
            <a:r>
              <a:rPr lang="en-US" dirty="0">
                <a:latin typeface="Calibri"/>
                <a:ea typeface="Calibri"/>
                <a:cs typeface="Arial"/>
              </a:rPr>
              <a:t> </a:t>
            </a:r>
            <a:r>
              <a:rPr lang="en-US" dirty="0" err="1">
                <a:latin typeface="Calibri"/>
                <a:ea typeface="Calibri"/>
                <a:cs typeface="Arial"/>
              </a:rPr>
              <a:t>viên</a:t>
            </a:r>
            <a:r>
              <a:rPr lang="en-US" dirty="0">
                <a:latin typeface="Calibri"/>
                <a:ea typeface="Calibri"/>
                <a:cs typeface="Arial"/>
              </a:rPr>
              <a:t> </a:t>
            </a:r>
            <a:r>
              <a:rPr lang="en-US" dirty="0" err="1">
                <a:latin typeface="Calibri"/>
                <a:ea typeface="Calibri"/>
                <a:cs typeface="Arial"/>
              </a:rPr>
              <a:t>hướng</a:t>
            </a:r>
            <a:r>
              <a:rPr lang="en-US" dirty="0">
                <a:latin typeface="Calibri"/>
                <a:ea typeface="Calibri"/>
                <a:cs typeface="Arial"/>
              </a:rPr>
              <a:t> </a:t>
            </a:r>
            <a:r>
              <a:rPr lang="en-US" dirty="0" err="1">
                <a:latin typeface="Calibri"/>
                <a:ea typeface="Calibri"/>
                <a:cs typeface="Arial"/>
              </a:rPr>
              <a:t>dẫn</a:t>
            </a:r>
            <a:r>
              <a:rPr lang="en-US" dirty="0">
                <a:latin typeface="Calibri"/>
                <a:ea typeface="Calibri"/>
                <a:cs typeface="Arial"/>
              </a:rPr>
              <a:t>: </a:t>
            </a:r>
            <a:endParaRPr lang="en-US" dirty="0">
              <a:latin typeface="Calibri"/>
              <a:ea typeface="Calibri"/>
              <a:cs typeface="Calibri"/>
            </a:endParaRPr>
          </a:p>
          <a:p>
            <a:r>
              <a:rPr lang="en-US" dirty="0" err="1">
                <a:latin typeface="Calibri"/>
                <a:ea typeface="Calibri"/>
                <a:cs typeface="Arial"/>
              </a:rPr>
              <a:t>Ths</a:t>
            </a:r>
            <a:r>
              <a:rPr lang="en-US">
                <a:latin typeface="Calibri"/>
                <a:ea typeface="Calibri"/>
                <a:cs typeface="Arial"/>
              </a:rPr>
              <a:t>. Ngô Thanh Huy</a:t>
            </a:r>
          </a:p>
          <a:p>
            <a:pPr algn="l"/>
            <a:endParaRPr lang="en-US" dirty="0">
              <a:latin typeface="Calibri"/>
              <a:ea typeface="Calibri"/>
              <a:cs typeface="Calibri"/>
            </a:endParaRPr>
          </a:p>
        </p:txBody>
      </p:sp>
      <p:pic>
        <p:nvPicPr>
          <p:cNvPr id="12" name="Picture 11">
            <a:extLst>
              <a:ext uri="{FF2B5EF4-FFF2-40B4-BE49-F238E27FC236}">
                <a16:creationId xmlns:a16="http://schemas.microsoft.com/office/drawing/2014/main" id="{7A654FBE-6373-1252-6C8B-833E385238C5}"/>
              </a:ext>
            </a:extLst>
          </p:cNvPr>
          <p:cNvPicPr>
            <a:picLocks noChangeAspect="1"/>
          </p:cNvPicPr>
          <p:nvPr/>
        </p:nvPicPr>
        <p:blipFill>
          <a:blip r:embed="rId3"/>
          <a:srcRect r="38889" b="-1149"/>
          <a:stretch>
            <a:fillRect/>
          </a:stretch>
        </p:blipFill>
        <p:spPr>
          <a:xfrm>
            <a:off x="130992" y="145441"/>
            <a:ext cx="1317852" cy="1058120"/>
          </a:xfrm>
          <a:prstGeom prst="rect">
            <a:avLst/>
          </a:prstGeom>
        </p:spPr>
      </p:pic>
      <p:sp>
        <p:nvSpPr>
          <p:cNvPr id="14" name="TextBox 13">
            <a:extLst>
              <a:ext uri="{FF2B5EF4-FFF2-40B4-BE49-F238E27FC236}">
                <a16:creationId xmlns:a16="http://schemas.microsoft.com/office/drawing/2014/main" id="{395BA324-FBAB-F2D8-8430-BF34CA0F0291}"/>
              </a:ext>
            </a:extLst>
          </p:cNvPr>
          <p:cNvSpPr txBox="1"/>
          <p:nvPr/>
        </p:nvSpPr>
        <p:spPr>
          <a:xfrm>
            <a:off x="1310269" y="408877"/>
            <a:ext cx="3233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Trường </a:t>
            </a:r>
            <a:r>
              <a:rPr lang="en-US" dirty="0" err="1"/>
              <a:t>Kỹ</a:t>
            </a:r>
            <a:r>
              <a:rPr lang="en-US" dirty="0"/>
              <a:t> </a:t>
            </a:r>
            <a:r>
              <a:rPr lang="en-US" dirty="0" err="1"/>
              <a:t>Thuật</a:t>
            </a:r>
            <a:r>
              <a:rPr lang="en-US" dirty="0"/>
              <a:t> </a:t>
            </a:r>
            <a:r>
              <a:rPr lang="en-US" dirty="0" err="1"/>
              <a:t>Và</a:t>
            </a:r>
            <a:r>
              <a:rPr lang="en-US" dirty="0"/>
              <a:t> Công </a:t>
            </a:r>
            <a:r>
              <a:rPr lang="en-US" dirty="0" err="1"/>
              <a:t>Nghệ</a:t>
            </a:r>
          </a:p>
        </p:txBody>
      </p:sp>
      <p:sp>
        <p:nvSpPr>
          <p:cNvPr id="15" name="TextBox 14">
            <a:extLst>
              <a:ext uri="{FF2B5EF4-FFF2-40B4-BE49-F238E27FC236}">
                <a16:creationId xmlns:a16="http://schemas.microsoft.com/office/drawing/2014/main" id="{0BBE04F8-6607-9639-4735-4C5E4E92F471}"/>
              </a:ext>
            </a:extLst>
          </p:cNvPr>
          <p:cNvSpPr txBox="1"/>
          <p:nvPr/>
        </p:nvSpPr>
        <p:spPr>
          <a:xfrm>
            <a:off x="6667359" y="351150"/>
            <a:ext cx="323385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Thực</a:t>
            </a:r>
            <a:r>
              <a:rPr lang="en-US" dirty="0"/>
              <a:t> </a:t>
            </a:r>
            <a:r>
              <a:rPr lang="en-US" dirty="0" err="1"/>
              <a:t>tập</a:t>
            </a:r>
            <a:r>
              <a:rPr lang="en-US" dirty="0"/>
              <a:t> </a:t>
            </a:r>
            <a:r>
              <a:rPr lang="en-US" dirty="0" err="1"/>
              <a:t>đồ</a:t>
            </a:r>
            <a:r>
              <a:rPr lang="en-US" dirty="0"/>
              <a:t> </a:t>
            </a:r>
            <a:r>
              <a:rPr lang="en-US" dirty="0" err="1"/>
              <a:t>án</a:t>
            </a:r>
            <a:r>
              <a:rPr lang="en-US" dirty="0"/>
              <a:t> </a:t>
            </a:r>
            <a:r>
              <a:rPr lang="en-US" dirty="0" err="1"/>
              <a:t>chuyên</a:t>
            </a:r>
            <a:r>
              <a:rPr lang="en-US" dirty="0"/>
              <a:t> </a:t>
            </a:r>
            <a:r>
              <a:rPr lang="en-US" dirty="0" err="1"/>
              <a:t>ngành</a:t>
            </a:r>
            <a:r>
              <a:rPr lang="en-US" dirty="0"/>
              <a:t> Học </a:t>
            </a:r>
            <a:r>
              <a:rPr lang="en-US" dirty="0" err="1"/>
              <a:t>kì</a:t>
            </a:r>
            <a:r>
              <a:rPr lang="en-US" dirty="0"/>
              <a:t> I, </a:t>
            </a:r>
            <a:r>
              <a:rPr lang="en-US" dirty="0" err="1"/>
              <a:t>năm</a:t>
            </a:r>
            <a:r>
              <a:rPr lang="en-US" dirty="0"/>
              <a:t> </a:t>
            </a:r>
            <a:r>
              <a:rPr lang="en-US" dirty="0" err="1"/>
              <a:t>học</a:t>
            </a:r>
            <a:r>
              <a:rPr lang="en-US" dirty="0"/>
              <a:t> 2025-2026</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43AB69-B0AE-83C0-7E1E-734CD7E48668}"/>
              </a:ext>
            </a:extLst>
          </p:cNvPr>
          <p:cNvSpPr txBox="1"/>
          <p:nvPr/>
        </p:nvSpPr>
        <p:spPr>
          <a:xfrm>
            <a:off x="5215759" y="354724"/>
            <a:ext cx="336331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err="1"/>
              <a:t>Nội</a:t>
            </a:r>
            <a:r>
              <a:rPr lang="en-US" sz="2000" dirty="0"/>
              <a:t> dung </a:t>
            </a:r>
            <a:r>
              <a:rPr lang="en-US" sz="2000" err="1"/>
              <a:t>trình</a:t>
            </a:r>
            <a:r>
              <a:rPr lang="en-US" sz="2000" dirty="0"/>
              <a:t> </a:t>
            </a:r>
            <a:r>
              <a:rPr lang="en-US" sz="2000" err="1"/>
              <a:t>bày</a:t>
            </a:r>
            <a:r>
              <a:rPr lang="en-US" sz="2000" dirty="0"/>
              <a:t>:</a:t>
            </a:r>
          </a:p>
        </p:txBody>
      </p:sp>
      <p:sp>
        <p:nvSpPr>
          <p:cNvPr id="24" name="TextBox 23">
            <a:extLst>
              <a:ext uri="{FF2B5EF4-FFF2-40B4-BE49-F238E27FC236}">
                <a16:creationId xmlns:a16="http://schemas.microsoft.com/office/drawing/2014/main" id="{62B0844D-96F2-8962-2552-B405595121FA}"/>
              </a:ext>
            </a:extLst>
          </p:cNvPr>
          <p:cNvSpPr txBox="1"/>
          <p:nvPr/>
        </p:nvSpPr>
        <p:spPr>
          <a:xfrm>
            <a:off x="457200" y="111252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2000" dirty="0"/>
              <a:t>Lý do </a:t>
            </a:r>
            <a:r>
              <a:rPr lang="en-US" sz="2000" dirty="0" err="1"/>
              <a:t>chọn</a:t>
            </a:r>
            <a:r>
              <a:rPr lang="en-US" sz="2000" dirty="0"/>
              <a:t> </a:t>
            </a:r>
            <a:r>
              <a:rPr lang="en-US" sz="2000" dirty="0" err="1"/>
              <a:t>đề</a:t>
            </a:r>
            <a:r>
              <a:rPr lang="en-US" sz="2000" dirty="0"/>
              <a:t> </a:t>
            </a:r>
            <a:r>
              <a:rPr lang="en-US" sz="2000" dirty="0" err="1"/>
              <a:t>tài</a:t>
            </a:r>
            <a:endParaRPr lang="en-US" dirty="0" err="1"/>
          </a:p>
        </p:txBody>
      </p:sp>
      <p:sp>
        <p:nvSpPr>
          <p:cNvPr id="26" name="TextBox 25">
            <a:extLst>
              <a:ext uri="{FF2B5EF4-FFF2-40B4-BE49-F238E27FC236}">
                <a16:creationId xmlns:a16="http://schemas.microsoft.com/office/drawing/2014/main" id="{8FDF9EF8-7485-84ED-7746-966881FEEEEB}"/>
              </a:ext>
            </a:extLst>
          </p:cNvPr>
          <p:cNvSpPr txBox="1"/>
          <p:nvPr/>
        </p:nvSpPr>
        <p:spPr>
          <a:xfrm>
            <a:off x="457200" y="1519796"/>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2.  </a:t>
            </a:r>
            <a:r>
              <a:rPr lang="en-US" sz="2000" dirty="0" err="1"/>
              <a:t>Mục</a:t>
            </a:r>
            <a:r>
              <a:rPr lang="en-US" sz="2000" dirty="0"/>
              <a:t> </a:t>
            </a:r>
            <a:r>
              <a:rPr lang="en-US" sz="2000" dirty="0" err="1"/>
              <a:t>đích</a:t>
            </a:r>
            <a:r>
              <a:rPr lang="en-US" sz="2000" dirty="0"/>
              <a:t> </a:t>
            </a:r>
            <a:r>
              <a:rPr lang="en-US" sz="2000" dirty="0" err="1"/>
              <a:t>nghiên</a:t>
            </a:r>
            <a:r>
              <a:rPr lang="en-US" sz="2000" dirty="0"/>
              <a:t> </a:t>
            </a:r>
            <a:r>
              <a:rPr lang="en-US" sz="2000" dirty="0" err="1"/>
              <a:t>cứu</a:t>
            </a:r>
          </a:p>
        </p:txBody>
      </p:sp>
      <p:sp>
        <p:nvSpPr>
          <p:cNvPr id="28" name="TextBox 27">
            <a:extLst>
              <a:ext uri="{FF2B5EF4-FFF2-40B4-BE49-F238E27FC236}">
                <a16:creationId xmlns:a16="http://schemas.microsoft.com/office/drawing/2014/main" id="{0A264CDA-84E5-2961-3107-2781AD1BC8B6}"/>
              </a:ext>
            </a:extLst>
          </p:cNvPr>
          <p:cNvSpPr txBox="1"/>
          <p:nvPr/>
        </p:nvSpPr>
        <p:spPr>
          <a:xfrm>
            <a:off x="457200" y="1927072"/>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3. </a:t>
            </a:r>
            <a:r>
              <a:rPr lang="en-US" sz="2000" dirty="0" err="1"/>
              <a:t>Cơ</a:t>
            </a:r>
            <a:r>
              <a:rPr lang="en-US" sz="2000" dirty="0"/>
              <a:t> </a:t>
            </a:r>
            <a:r>
              <a:rPr lang="en-US" sz="2000" dirty="0" err="1"/>
              <a:t>sở</a:t>
            </a:r>
            <a:r>
              <a:rPr lang="en-US" sz="2000" dirty="0"/>
              <a:t> </a:t>
            </a:r>
            <a:r>
              <a:rPr lang="en-US" sz="2000" dirty="0" err="1"/>
              <a:t>lý</a:t>
            </a:r>
            <a:r>
              <a:rPr lang="en-US" sz="2000" dirty="0"/>
              <a:t> </a:t>
            </a:r>
            <a:r>
              <a:rPr lang="en-US" sz="2000" dirty="0" err="1"/>
              <a:t>thuyết</a:t>
            </a:r>
            <a:endParaRPr lang="en-US" dirty="0" err="1"/>
          </a:p>
        </p:txBody>
      </p:sp>
      <p:sp>
        <p:nvSpPr>
          <p:cNvPr id="29" name="TextBox 28">
            <a:extLst>
              <a:ext uri="{FF2B5EF4-FFF2-40B4-BE49-F238E27FC236}">
                <a16:creationId xmlns:a16="http://schemas.microsoft.com/office/drawing/2014/main" id="{0C4556D6-7DB7-1F4B-3497-4D20411E335A}"/>
              </a:ext>
            </a:extLst>
          </p:cNvPr>
          <p:cNvSpPr txBox="1"/>
          <p:nvPr/>
        </p:nvSpPr>
        <p:spPr>
          <a:xfrm>
            <a:off x="457200" y="232121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4. </a:t>
            </a:r>
            <a:r>
              <a:rPr lang="en-US" sz="2000" dirty="0" err="1"/>
              <a:t>Mô</a:t>
            </a:r>
            <a:r>
              <a:rPr lang="en-US" sz="2000" dirty="0"/>
              <a:t> </a:t>
            </a:r>
            <a:r>
              <a:rPr lang="en-US" sz="2000" dirty="0" err="1"/>
              <a:t>tả</a:t>
            </a:r>
            <a:r>
              <a:rPr lang="en-US" sz="2000" dirty="0"/>
              <a:t> </a:t>
            </a:r>
            <a:r>
              <a:rPr lang="en-US" sz="2000" dirty="0" err="1"/>
              <a:t>bài</a:t>
            </a:r>
            <a:r>
              <a:rPr lang="en-US" sz="2000" dirty="0"/>
              <a:t> </a:t>
            </a:r>
            <a:r>
              <a:rPr lang="en-US" sz="2000" dirty="0" err="1"/>
              <a:t>toán</a:t>
            </a:r>
            <a:endParaRPr lang="en-US" dirty="0" err="1"/>
          </a:p>
        </p:txBody>
      </p:sp>
      <p:sp>
        <p:nvSpPr>
          <p:cNvPr id="30" name="TextBox 29">
            <a:extLst>
              <a:ext uri="{FF2B5EF4-FFF2-40B4-BE49-F238E27FC236}">
                <a16:creationId xmlns:a16="http://schemas.microsoft.com/office/drawing/2014/main" id="{8383613E-F463-FE56-2C52-227C59ABF1A7}"/>
              </a:ext>
            </a:extLst>
          </p:cNvPr>
          <p:cNvSpPr txBox="1"/>
          <p:nvPr/>
        </p:nvSpPr>
        <p:spPr>
          <a:xfrm>
            <a:off x="457200" y="2715348"/>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5. </a:t>
            </a:r>
            <a:r>
              <a:rPr lang="en-US" sz="2000" dirty="0" err="1"/>
              <a:t>Yêu</a:t>
            </a:r>
            <a:r>
              <a:rPr lang="en-US" sz="2000" dirty="0"/>
              <a:t> </a:t>
            </a:r>
            <a:r>
              <a:rPr lang="en-US" sz="2000" dirty="0" err="1"/>
              <a:t>cầu</a:t>
            </a:r>
            <a:r>
              <a:rPr lang="en-US" sz="2000" dirty="0"/>
              <a:t> </a:t>
            </a:r>
            <a:r>
              <a:rPr lang="en-US" sz="2000" dirty="0" err="1"/>
              <a:t>chức</a:t>
            </a:r>
            <a:r>
              <a:rPr lang="en-US" sz="2000" dirty="0"/>
              <a:t> </a:t>
            </a:r>
            <a:r>
              <a:rPr lang="en-US" sz="2000" dirty="0" err="1"/>
              <a:t>năng</a:t>
            </a:r>
            <a:endParaRPr lang="en-US" dirty="0" err="1"/>
          </a:p>
        </p:txBody>
      </p:sp>
      <p:sp>
        <p:nvSpPr>
          <p:cNvPr id="31" name="TextBox 30">
            <a:extLst>
              <a:ext uri="{FF2B5EF4-FFF2-40B4-BE49-F238E27FC236}">
                <a16:creationId xmlns:a16="http://schemas.microsoft.com/office/drawing/2014/main" id="{FF3730B9-17C2-F527-B4F6-9C8C9C19913C}"/>
              </a:ext>
            </a:extLst>
          </p:cNvPr>
          <p:cNvSpPr txBox="1"/>
          <p:nvPr/>
        </p:nvSpPr>
        <p:spPr>
          <a:xfrm>
            <a:off x="457200" y="3109486"/>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6. </a:t>
            </a:r>
            <a:r>
              <a:rPr lang="en-US" sz="2000" dirty="0" err="1"/>
              <a:t>Yêu</a:t>
            </a:r>
            <a:r>
              <a:rPr lang="en-US" sz="2000" dirty="0"/>
              <a:t> </a:t>
            </a:r>
            <a:r>
              <a:rPr lang="en-US" sz="2000" dirty="0" err="1"/>
              <a:t>cầu</a:t>
            </a:r>
            <a:r>
              <a:rPr lang="en-US" sz="2000" dirty="0"/>
              <a:t> phi </a:t>
            </a:r>
            <a:r>
              <a:rPr lang="en-US" sz="2000" dirty="0" err="1"/>
              <a:t>chức</a:t>
            </a:r>
            <a:r>
              <a:rPr lang="en-US" sz="2000" dirty="0"/>
              <a:t> </a:t>
            </a:r>
            <a:r>
              <a:rPr lang="en-US" sz="2000" dirty="0" err="1"/>
              <a:t>năng</a:t>
            </a:r>
            <a:endParaRPr lang="en-US" dirty="0" err="1"/>
          </a:p>
        </p:txBody>
      </p:sp>
      <p:sp>
        <p:nvSpPr>
          <p:cNvPr id="32" name="TextBox 31">
            <a:extLst>
              <a:ext uri="{FF2B5EF4-FFF2-40B4-BE49-F238E27FC236}">
                <a16:creationId xmlns:a16="http://schemas.microsoft.com/office/drawing/2014/main" id="{8D90030C-4027-0C2D-B4D5-EFCDE3A71E18}"/>
              </a:ext>
            </a:extLst>
          </p:cNvPr>
          <p:cNvSpPr txBox="1"/>
          <p:nvPr/>
        </p:nvSpPr>
        <p:spPr>
          <a:xfrm>
            <a:off x="457200" y="3503624"/>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7. </a:t>
            </a:r>
            <a:r>
              <a:rPr lang="en-US" sz="2000" dirty="0" err="1"/>
              <a:t>Cơ</a:t>
            </a:r>
            <a:r>
              <a:rPr lang="en-US" sz="2000" dirty="0"/>
              <a:t> </a:t>
            </a:r>
            <a:r>
              <a:rPr lang="en-US" sz="2000" dirty="0" err="1"/>
              <a:t>sở</a:t>
            </a:r>
            <a:r>
              <a:rPr lang="en-US" sz="2000" dirty="0"/>
              <a:t> </a:t>
            </a:r>
            <a:r>
              <a:rPr lang="en-US" sz="2000" dirty="0" err="1"/>
              <a:t>dữ</a:t>
            </a:r>
            <a:r>
              <a:rPr lang="en-US" sz="2000" dirty="0"/>
              <a:t> </a:t>
            </a:r>
            <a:r>
              <a:rPr lang="en-US" sz="2000" dirty="0" err="1"/>
              <a:t>liệu</a:t>
            </a:r>
            <a:endParaRPr lang="en-US" dirty="0" err="1"/>
          </a:p>
        </p:txBody>
      </p:sp>
      <p:sp>
        <p:nvSpPr>
          <p:cNvPr id="33" name="TextBox 32">
            <a:extLst>
              <a:ext uri="{FF2B5EF4-FFF2-40B4-BE49-F238E27FC236}">
                <a16:creationId xmlns:a16="http://schemas.microsoft.com/office/drawing/2014/main" id="{95A8AB3B-8EEE-420E-3831-3621ACF7605E}"/>
              </a:ext>
            </a:extLst>
          </p:cNvPr>
          <p:cNvSpPr txBox="1"/>
          <p:nvPr/>
        </p:nvSpPr>
        <p:spPr>
          <a:xfrm>
            <a:off x="457200" y="3897762"/>
            <a:ext cx="36339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8. </a:t>
            </a:r>
            <a:r>
              <a:rPr lang="en-US" sz="2000" dirty="0" err="1"/>
              <a:t>Kết</a:t>
            </a:r>
            <a:r>
              <a:rPr lang="en-US" sz="2000" dirty="0"/>
              <a:t> </a:t>
            </a:r>
            <a:r>
              <a:rPr lang="en-US" sz="2000" dirty="0" err="1"/>
              <a:t>luận</a:t>
            </a:r>
            <a:r>
              <a:rPr lang="en-US" sz="2000" dirty="0"/>
              <a:t> </a:t>
            </a:r>
            <a:r>
              <a:rPr lang="en-US" sz="2000" dirty="0" err="1"/>
              <a:t>và</a:t>
            </a:r>
            <a:r>
              <a:rPr lang="en-US" sz="2000" dirty="0"/>
              <a:t> </a:t>
            </a:r>
            <a:r>
              <a:rPr lang="en-US" sz="2000" dirty="0" err="1"/>
              <a:t>hướng</a:t>
            </a:r>
            <a:r>
              <a:rPr lang="en-US" sz="2000" dirty="0"/>
              <a:t> </a:t>
            </a:r>
            <a:r>
              <a:rPr lang="en-US" sz="2000" dirty="0" err="1"/>
              <a:t>phát</a:t>
            </a:r>
            <a:r>
              <a:rPr lang="en-US" sz="2000" dirty="0"/>
              <a:t> </a:t>
            </a:r>
            <a:r>
              <a:rPr lang="en-US" sz="2000" dirty="0" err="1"/>
              <a:t>triển</a:t>
            </a:r>
            <a:endParaRPr lang="en-US" dirty="0" err="1"/>
          </a:p>
        </p:txBody>
      </p:sp>
      <p:sp>
        <p:nvSpPr>
          <p:cNvPr id="34" name="TextBox 33">
            <a:extLst>
              <a:ext uri="{FF2B5EF4-FFF2-40B4-BE49-F238E27FC236}">
                <a16:creationId xmlns:a16="http://schemas.microsoft.com/office/drawing/2014/main" id="{AB17EFE1-2577-645C-015D-C4943FF8E466}"/>
              </a:ext>
            </a:extLst>
          </p:cNvPr>
          <p:cNvSpPr txBox="1"/>
          <p:nvPr/>
        </p:nvSpPr>
        <p:spPr>
          <a:xfrm>
            <a:off x="457200" y="4291900"/>
            <a:ext cx="36339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9. </a:t>
            </a:r>
            <a:r>
              <a:rPr lang="en-US" sz="2000" dirty="0" err="1"/>
              <a:t>Kết</a:t>
            </a:r>
            <a:r>
              <a:rPr lang="en-US" sz="2000" dirty="0"/>
              <a:t> </a:t>
            </a:r>
            <a:r>
              <a:rPr lang="en-US" sz="2000" dirty="0" err="1"/>
              <a:t>quả</a:t>
            </a:r>
            <a:r>
              <a:rPr lang="en-US" sz="2000" dirty="0"/>
              <a:t> </a:t>
            </a:r>
            <a:r>
              <a:rPr lang="en-US" sz="2000" dirty="0" err="1"/>
              <a:t>thực</a:t>
            </a:r>
            <a:r>
              <a:rPr lang="en-US" sz="2000" dirty="0"/>
              <a:t> </a:t>
            </a:r>
            <a:r>
              <a:rPr lang="en-US" sz="2000" dirty="0" err="1"/>
              <a:t>nghiệm</a:t>
            </a:r>
            <a:endParaRPr lang="en-US" dirty="0" err="1"/>
          </a:p>
        </p:txBody>
      </p:sp>
    </p:spTree>
    <p:extLst>
      <p:ext uri="{BB962C8B-B14F-4D97-AF65-F5344CB8AC3E}">
        <p14:creationId xmlns:p14="http://schemas.microsoft.com/office/powerpoint/2010/main" val="2455648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E27B6-377E-7790-3F7F-FB93D2E3403B}"/>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8A7C05A2-4113-F306-8702-EF57C518D5D1}"/>
              </a:ext>
            </a:extLst>
          </p:cNvPr>
          <p:cNvSpPr txBox="1"/>
          <p:nvPr/>
        </p:nvSpPr>
        <p:spPr>
          <a:xfrm>
            <a:off x="457200" y="111252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2000" dirty="0"/>
              <a:t>Lý do </a:t>
            </a:r>
            <a:r>
              <a:rPr lang="en-US" sz="2000" dirty="0" err="1"/>
              <a:t>chọn</a:t>
            </a:r>
            <a:r>
              <a:rPr lang="en-US" sz="2000" dirty="0"/>
              <a:t> </a:t>
            </a:r>
            <a:r>
              <a:rPr lang="en-US" sz="2000" dirty="0" err="1"/>
              <a:t>đề</a:t>
            </a:r>
            <a:r>
              <a:rPr lang="en-US" sz="2000" dirty="0"/>
              <a:t> </a:t>
            </a:r>
            <a:r>
              <a:rPr lang="en-US" sz="2000" dirty="0" err="1"/>
              <a:t>tài</a:t>
            </a:r>
            <a:endParaRPr lang="en-US" dirty="0" err="1"/>
          </a:p>
        </p:txBody>
      </p:sp>
      <p:pic>
        <p:nvPicPr>
          <p:cNvPr id="4" name="Picture 3">
            <a:extLst>
              <a:ext uri="{FF2B5EF4-FFF2-40B4-BE49-F238E27FC236}">
                <a16:creationId xmlns:a16="http://schemas.microsoft.com/office/drawing/2014/main" id="{784E52BD-0FA6-3A4E-04B0-A1107E29187C}"/>
              </a:ext>
            </a:extLst>
          </p:cNvPr>
          <p:cNvPicPr>
            <a:picLocks noChangeAspect="1"/>
          </p:cNvPicPr>
          <p:nvPr/>
        </p:nvPicPr>
        <p:blipFill>
          <a:blip r:embed="rId2"/>
          <a:stretch>
            <a:fillRect/>
          </a:stretch>
        </p:blipFill>
        <p:spPr>
          <a:xfrm>
            <a:off x="3918857" y="1612446"/>
            <a:ext cx="6930572" cy="3850822"/>
          </a:xfrm>
          <a:prstGeom prst="rect">
            <a:avLst/>
          </a:prstGeom>
        </p:spPr>
      </p:pic>
      <p:sp>
        <p:nvSpPr>
          <p:cNvPr id="3" name="Rectangle 2">
            <a:extLst>
              <a:ext uri="{FF2B5EF4-FFF2-40B4-BE49-F238E27FC236}">
                <a16:creationId xmlns:a16="http://schemas.microsoft.com/office/drawing/2014/main" id="{9D844FC3-C5B6-FAB9-46E4-BD98FBAC4F6C}"/>
              </a:ext>
            </a:extLst>
          </p:cNvPr>
          <p:cNvSpPr/>
          <p:nvPr/>
        </p:nvSpPr>
        <p:spPr>
          <a:xfrm>
            <a:off x="452846" y="1808789"/>
            <a:ext cx="10395130" cy="3249749"/>
          </a:xfrm>
          <a:prstGeom prst="rect">
            <a:avLst/>
          </a:prstGeom>
          <a:solidFill>
            <a:srgbClr val="1B3B0F">
              <a:alpha val="5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5" name="TextBox 4">
            <a:extLst>
              <a:ext uri="{FF2B5EF4-FFF2-40B4-BE49-F238E27FC236}">
                <a16:creationId xmlns:a16="http://schemas.microsoft.com/office/drawing/2014/main" id="{227A6726-8125-A282-2530-35386CF1923E}"/>
              </a:ext>
            </a:extLst>
          </p:cNvPr>
          <p:cNvSpPr txBox="1"/>
          <p:nvPr/>
        </p:nvSpPr>
        <p:spPr>
          <a:xfrm>
            <a:off x="692350" y="2172240"/>
            <a:ext cx="5185565"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solidFill>
                  <a:schemeClr val="bg1"/>
                </a:solidFill>
                <a:latin typeface="Calibri"/>
                <a:ea typeface="Calibri"/>
                <a:cs typeface="Calibri"/>
              </a:rPr>
              <a:t>Xây</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dựng</a:t>
            </a:r>
            <a:r>
              <a:rPr lang="en-US" sz="1600" dirty="0">
                <a:solidFill>
                  <a:schemeClr val="bg1"/>
                </a:solidFill>
                <a:latin typeface="Calibri"/>
                <a:ea typeface="Calibri"/>
                <a:cs typeface="Calibri"/>
              </a:rPr>
              <a:t> website </a:t>
            </a:r>
            <a:r>
              <a:rPr lang="en-US" sz="1600" err="1">
                <a:solidFill>
                  <a:schemeClr val="bg1"/>
                </a:solidFill>
                <a:latin typeface="Calibri"/>
                <a:ea typeface="Calibri"/>
                <a:cs typeface="Calibri"/>
              </a:rPr>
              <a:t>quảng</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bá</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và</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đặt</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vé</a:t>
            </a:r>
            <a:r>
              <a:rPr lang="en-US" sz="1600" dirty="0">
                <a:solidFill>
                  <a:schemeClr val="bg1"/>
                </a:solidFill>
                <a:latin typeface="Calibri"/>
                <a:ea typeface="Calibri"/>
                <a:cs typeface="Calibri"/>
              </a:rPr>
              <a:t> du </a:t>
            </a:r>
            <a:r>
              <a:rPr lang="en-US" sz="1600" err="1">
                <a:solidFill>
                  <a:schemeClr val="bg1"/>
                </a:solidFill>
                <a:latin typeface="Calibri"/>
                <a:ea typeface="Calibri"/>
                <a:cs typeface="Calibri"/>
              </a:rPr>
              <a:t>lịch</a:t>
            </a:r>
            <a:r>
              <a:rPr lang="en-US" sz="1600" dirty="0">
                <a:solidFill>
                  <a:schemeClr val="bg1"/>
                </a:solidFill>
                <a:latin typeface="Calibri"/>
                <a:ea typeface="Calibri"/>
                <a:cs typeface="Calibri"/>
              </a:rPr>
              <a:t> Việt Nam </a:t>
            </a:r>
            <a:r>
              <a:rPr lang="en-US" sz="1600" err="1">
                <a:solidFill>
                  <a:schemeClr val="bg1"/>
                </a:solidFill>
                <a:latin typeface="Calibri"/>
                <a:ea typeface="Calibri"/>
                <a:cs typeface="Calibri"/>
              </a:rPr>
              <a:t>giúp</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người</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dùng</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dễ</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dàng</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tìm</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kiếm</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các</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địa</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điểm</a:t>
            </a:r>
            <a:r>
              <a:rPr lang="en-US" sz="1600" dirty="0">
                <a:solidFill>
                  <a:schemeClr val="bg1"/>
                </a:solidFill>
                <a:latin typeface="Calibri"/>
                <a:ea typeface="Calibri"/>
                <a:cs typeface="Calibri"/>
              </a:rPr>
              <a:t> du </a:t>
            </a:r>
            <a:r>
              <a:rPr lang="en-US" sz="1600" err="1">
                <a:solidFill>
                  <a:schemeClr val="bg1"/>
                </a:solidFill>
                <a:latin typeface="Calibri"/>
                <a:ea typeface="Calibri"/>
                <a:cs typeface="Calibri"/>
              </a:rPr>
              <a:t>lịch</a:t>
            </a:r>
            <a:r>
              <a:rPr lang="en-US" sz="1600" dirty="0">
                <a:solidFill>
                  <a:schemeClr val="bg1"/>
                </a:solidFill>
                <a:latin typeface="Calibri"/>
                <a:ea typeface="Calibri"/>
                <a:cs typeface="Calibri"/>
              </a:rPr>
              <a:t>  Việt Nam </a:t>
            </a:r>
            <a:r>
              <a:rPr lang="en-US" sz="1600" err="1">
                <a:solidFill>
                  <a:schemeClr val="bg1"/>
                </a:solidFill>
                <a:latin typeface="Calibri"/>
                <a:ea typeface="Calibri"/>
                <a:cs typeface="Calibri"/>
              </a:rPr>
              <a:t>mà</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họ</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muốn</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có</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thể</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theo</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tên</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địa</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điểm</a:t>
            </a:r>
            <a:r>
              <a:rPr lang="en-US" sz="1600" dirty="0">
                <a:solidFill>
                  <a:schemeClr val="bg1"/>
                </a:solidFill>
                <a:latin typeface="Calibri"/>
                <a:ea typeface="Calibri"/>
                <a:cs typeface="Calibri"/>
              </a:rPr>
              <a:t> du </a:t>
            </a:r>
            <a:r>
              <a:rPr lang="en-US" sz="1600" err="1">
                <a:solidFill>
                  <a:schemeClr val="bg1"/>
                </a:solidFill>
                <a:latin typeface="Calibri"/>
                <a:ea typeface="Calibri"/>
                <a:cs typeface="Calibri"/>
              </a:rPr>
              <a:t>lịch</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và</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giá</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cả</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phù</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hợp</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với</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nhu</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cầu</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của</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họ</a:t>
            </a:r>
            <a:r>
              <a:rPr lang="en-US" sz="1600" dirty="0">
                <a:solidFill>
                  <a:schemeClr val="bg1"/>
                </a:solidFill>
                <a:latin typeface="Calibri"/>
                <a:ea typeface="Calibri"/>
                <a:cs typeface="Calibri"/>
              </a:rPr>
              <a:t>.</a:t>
            </a:r>
          </a:p>
          <a:p>
            <a:r>
              <a:rPr lang="en-US" sz="1600" dirty="0">
                <a:solidFill>
                  <a:schemeClr val="bg1"/>
                </a:solidFill>
                <a:latin typeface="Calibri"/>
                <a:ea typeface="Calibri"/>
                <a:cs typeface="Calibri"/>
              </a:rPr>
              <a:t>Quản </a:t>
            </a:r>
            <a:r>
              <a:rPr lang="en-US" sz="1600" err="1">
                <a:solidFill>
                  <a:schemeClr val="bg1"/>
                </a:solidFill>
                <a:latin typeface="Calibri"/>
                <a:ea typeface="Calibri"/>
                <a:cs typeface="Calibri"/>
              </a:rPr>
              <a:t>trị</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viên</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có</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thể</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quản</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lý</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các</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địa</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điểm</a:t>
            </a:r>
            <a:r>
              <a:rPr lang="en-US" sz="1600" dirty="0">
                <a:solidFill>
                  <a:schemeClr val="bg1"/>
                </a:solidFill>
                <a:latin typeface="Calibri"/>
                <a:ea typeface="Calibri"/>
                <a:cs typeface="Calibri"/>
              </a:rPr>
              <a:t> du </a:t>
            </a:r>
            <a:r>
              <a:rPr lang="en-US" sz="1600" err="1">
                <a:solidFill>
                  <a:schemeClr val="bg1"/>
                </a:solidFill>
                <a:latin typeface="Calibri"/>
                <a:ea typeface="Calibri"/>
                <a:cs typeface="Calibri"/>
              </a:rPr>
              <a:t>lịch</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và</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vé</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với</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các</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thao</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tác</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đơn</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giản</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giúp</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quảng</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bá</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các</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địa</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điểm</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hiệu</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quả</a:t>
            </a:r>
            <a:r>
              <a:rPr lang="en-US" sz="1600" dirty="0">
                <a:solidFill>
                  <a:schemeClr val="bg1"/>
                </a:solidFill>
                <a:latin typeface="Calibri"/>
                <a:ea typeface="Calibri"/>
                <a:cs typeface="Calibri"/>
              </a:rPr>
              <a:t> </a:t>
            </a:r>
            <a:r>
              <a:rPr lang="en-US" sz="1600" err="1">
                <a:solidFill>
                  <a:schemeClr val="bg1"/>
                </a:solidFill>
                <a:latin typeface="Calibri"/>
                <a:ea typeface="Calibri"/>
                <a:cs typeface="Calibri"/>
              </a:rPr>
              <a:t>hơn</a:t>
            </a:r>
            <a:r>
              <a:rPr lang="en-US" sz="1600" dirty="0">
                <a:solidFill>
                  <a:schemeClr val="bg1"/>
                </a:solidFill>
                <a:latin typeface="Calibri"/>
                <a:ea typeface="Calibri"/>
                <a:cs typeface="Calibri"/>
              </a:rPr>
              <a:t>.</a:t>
            </a:r>
          </a:p>
          <a:p>
            <a:endParaRPr lang="en-US" sz="1600" dirty="0">
              <a:latin typeface="Calibri"/>
              <a:ea typeface="Calibri"/>
              <a:cs typeface="Calibri"/>
            </a:endParaRPr>
          </a:p>
        </p:txBody>
      </p:sp>
    </p:spTree>
    <p:extLst>
      <p:ext uri="{BB962C8B-B14F-4D97-AF65-F5344CB8AC3E}">
        <p14:creationId xmlns:p14="http://schemas.microsoft.com/office/powerpoint/2010/main" val="2692454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44C61-FF30-DAE5-A81E-3447DAA3ED22}"/>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13EE9628-B309-5F71-9DBE-CA6F0F2A8493}"/>
              </a:ext>
            </a:extLst>
          </p:cNvPr>
          <p:cNvSpPr txBox="1"/>
          <p:nvPr/>
        </p:nvSpPr>
        <p:spPr>
          <a:xfrm>
            <a:off x="457200" y="111252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2. Mục đích nghiên cứu</a:t>
            </a:r>
            <a:endParaRPr lang="en-US" sz="2000" dirty="0"/>
          </a:p>
        </p:txBody>
      </p:sp>
      <p:sp>
        <p:nvSpPr>
          <p:cNvPr id="3" name="Rectangle 2">
            <a:extLst>
              <a:ext uri="{FF2B5EF4-FFF2-40B4-BE49-F238E27FC236}">
                <a16:creationId xmlns:a16="http://schemas.microsoft.com/office/drawing/2014/main" id="{ECE57A8F-1F37-CC88-3A06-0E2F5DCC55B2}"/>
              </a:ext>
            </a:extLst>
          </p:cNvPr>
          <p:cNvSpPr/>
          <p:nvPr/>
        </p:nvSpPr>
        <p:spPr>
          <a:xfrm>
            <a:off x="452846" y="1760409"/>
            <a:ext cx="5097417" cy="3298129"/>
          </a:xfrm>
          <a:prstGeom prst="rect">
            <a:avLst/>
          </a:prstGeom>
          <a:solidFill>
            <a:srgbClr val="296B11">
              <a:alpha val="8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5" name="TextBox 4">
            <a:extLst>
              <a:ext uri="{FF2B5EF4-FFF2-40B4-BE49-F238E27FC236}">
                <a16:creationId xmlns:a16="http://schemas.microsoft.com/office/drawing/2014/main" id="{2D10FE1C-E303-EF26-91D4-D6C475A0DF97}"/>
              </a:ext>
            </a:extLst>
          </p:cNvPr>
          <p:cNvSpPr txBox="1"/>
          <p:nvPr/>
        </p:nvSpPr>
        <p:spPr>
          <a:xfrm>
            <a:off x="910065" y="2885860"/>
            <a:ext cx="452032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latin typeface="Calibri"/>
                <a:ea typeface="Calibri"/>
                <a:cs typeface="Calibri"/>
              </a:rPr>
              <a:t>Dễ dàng tìm kiếm đia điểm du lịch, phù hợp với nhu cầu về địa điểm, giá tiền, thao tác không phức tạp giúp người dùng nhanh chóng đặt vé du </a:t>
            </a:r>
            <a:r>
              <a:rPr lang="en-US">
                <a:solidFill>
                  <a:schemeClr val="bg1"/>
                </a:solidFill>
                <a:latin typeface="Calibri"/>
                <a:ea typeface="Calibri"/>
                <a:cs typeface="Calibri"/>
              </a:rPr>
              <a:t>lịch ở nơi mà họ muốn tại Việt Nam.</a:t>
            </a:r>
            <a:endParaRPr lang="en-US" dirty="0">
              <a:solidFill>
                <a:schemeClr val="bg1"/>
              </a:solidFill>
              <a:latin typeface="Calibri"/>
              <a:ea typeface="Calibri"/>
              <a:cs typeface="Calibri"/>
            </a:endParaRPr>
          </a:p>
        </p:txBody>
      </p:sp>
      <p:sp>
        <p:nvSpPr>
          <p:cNvPr id="6" name="TextBox 5">
            <a:extLst>
              <a:ext uri="{FF2B5EF4-FFF2-40B4-BE49-F238E27FC236}">
                <a16:creationId xmlns:a16="http://schemas.microsoft.com/office/drawing/2014/main" id="{F7A68E97-06B3-F6F3-261A-44BC830EEA50}"/>
              </a:ext>
            </a:extLst>
          </p:cNvPr>
          <p:cNvSpPr txBox="1"/>
          <p:nvPr/>
        </p:nvSpPr>
        <p:spPr>
          <a:xfrm>
            <a:off x="1901873" y="2002907"/>
            <a:ext cx="30809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Đối với khách du lịch</a:t>
            </a:r>
            <a:endParaRPr lang="en-US">
              <a:solidFill>
                <a:schemeClr val="bg1"/>
              </a:solidFill>
            </a:endParaRPr>
          </a:p>
        </p:txBody>
      </p:sp>
      <p:sp>
        <p:nvSpPr>
          <p:cNvPr id="7" name="Rectangle 6">
            <a:extLst>
              <a:ext uri="{FF2B5EF4-FFF2-40B4-BE49-F238E27FC236}">
                <a16:creationId xmlns:a16="http://schemas.microsoft.com/office/drawing/2014/main" id="{2ADFAC33-2822-1AF4-ABF5-643098F2E4B0}"/>
              </a:ext>
            </a:extLst>
          </p:cNvPr>
          <p:cNvSpPr/>
          <p:nvPr/>
        </p:nvSpPr>
        <p:spPr>
          <a:xfrm>
            <a:off x="5835226" y="1748313"/>
            <a:ext cx="5097417" cy="3298129"/>
          </a:xfrm>
          <a:prstGeom prst="rect">
            <a:avLst/>
          </a:prstGeom>
          <a:solidFill>
            <a:srgbClr val="296B11">
              <a:alpha val="8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8" name="TextBox 7">
            <a:extLst>
              <a:ext uri="{FF2B5EF4-FFF2-40B4-BE49-F238E27FC236}">
                <a16:creationId xmlns:a16="http://schemas.microsoft.com/office/drawing/2014/main" id="{C4D1967E-6933-B09A-5FA8-D9F0441C6894}"/>
              </a:ext>
            </a:extLst>
          </p:cNvPr>
          <p:cNvSpPr txBox="1"/>
          <p:nvPr/>
        </p:nvSpPr>
        <p:spPr>
          <a:xfrm>
            <a:off x="6292445" y="2873764"/>
            <a:ext cx="452032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latin typeface="Calibri"/>
                <a:ea typeface="Calibri"/>
                <a:cs typeface="Calibri"/>
              </a:rPr>
              <a:t>Giúp người quản lý dễ dàng quản lý các địa điểm du lịch, giúp họ thêm địa điểm du lịch mới, có thể xóa, sửa giúp thuận tiện việc quảng bá. Ngoài ra họ còn có thể quản lý các </a:t>
            </a:r>
            <a:r>
              <a:rPr lang="en-US">
                <a:solidFill>
                  <a:schemeClr val="bg1"/>
                </a:solidFill>
                <a:latin typeface="Calibri"/>
                <a:ea typeface="Calibri"/>
                <a:cs typeface="Calibri"/>
              </a:rPr>
              <a:t>vé du lịch mà khách du lịch đã đặt.</a:t>
            </a:r>
            <a:endParaRPr lang="en-US" dirty="0">
              <a:solidFill>
                <a:schemeClr val="bg1"/>
              </a:solidFill>
              <a:latin typeface="Calibri"/>
              <a:ea typeface="Calibri"/>
              <a:cs typeface="Calibri"/>
            </a:endParaRPr>
          </a:p>
        </p:txBody>
      </p:sp>
      <p:sp>
        <p:nvSpPr>
          <p:cNvPr id="9" name="TextBox 8">
            <a:extLst>
              <a:ext uri="{FF2B5EF4-FFF2-40B4-BE49-F238E27FC236}">
                <a16:creationId xmlns:a16="http://schemas.microsoft.com/office/drawing/2014/main" id="{750E11B6-62F5-610E-9C11-DA7F6F76A759}"/>
              </a:ext>
            </a:extLst>
          </p:cNvPr>
          <p:cNvSpPr txBox="1"/>
          <p:nvPr/>
        </p:nvSpPr>
        <p:spPr>
          <a:xfrm>
            <a:off x="7284253" y="1990811"/>
            <a:ext cx="30809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Đối với người quản lý</a:t>
            </a:r>
            <a:endParaRPr lang="en-US">
              <a:solidFill>
                <a:schemeClr val="bg1"/>
              </a:solidFill>
            </a:endParaRPr>
          </a:p>
        </p:txBody>
      </p:sp>
    </p:spTree>
    <p:extLst>
      <p:ext uri="{BB962C8B-B14F-4D97-AF65-F5344CB8AC3E}">
        <p14:creationId xmlns:p14="http://schemas.microsoft.com/office/powerpoint/2010/main" val="2688552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7BE81-8C41-42F2-08A5-D2EBDF5D72AB}"/>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F6B10D83-A528-E2BC-334B-5471D84D2C5A}"/>
              </a:ext>
            </a:extLst>
          </p:cNvPr>
          <p:cNvSpPr txBox="1"/>
          <p:nvPr/>
        </p:nvSpPr>
        <p:spPr>
          <a:xfrm>
            <a:off x="457200" y="111252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3. Cơ sở lý thuyết</a:t>
            </a:r>
            <a:endParaRPr lang="en-US" sz="2000" dirty="0"/>
          </a:p>
        </p:txBody>
      </p:sp>
      <p:sp>
        <p:nvSpPr>
          <p:cNvPr id="3" name="Rectangle 2">
            <a:extLst>
              <a:ext uri="{FF2B5EF4-FFF2-40B4-BE49-F238E27FC236}">
                <a16:creationId xmlns:a16="http://schemas.microsoft.com/office/drawing/2014/main" id="{BDDA8F32-4125-9D6D-F7BA-68E602CE2801}"/>
              </a:ext>
            </a:extLst>
          </p:cNvPr>
          <p:cNvSpPr/>
          <p:nvPr/>
        </p:nvSpPr>
        <p:spPr>
          <a:xfrm>
            <a:off x="452846" y="1760409"/>
            <a:ext cx="2823513" cy="328603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5" name="TextBox 4">
            <a:extLst>
              <a:ext uri="{FF2B5EF4-FFF2-40B4-BE49-F238E27FC236}">
                <a16:creationId xmlns:a16="http://schemas.microsoft.com/office/drawing/2014/main" id="{4B800AF9-506D-B564-E583-B436D3CA270F}"/>
              </a:ext>
            </a:extLst>
          </p:cNvPr>
          <p:cNvSpPr txBox="1"/>
          <p:nvPr/>
        </p:nvSpPr>
        <p:spPr>
          <a:xfrm>
            <a:off x="631875" y="3018907"/>
            <a:ext cx="24641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latin typeface="Calibri"/>
                <a:ea typeface="Calibri"/>
                <a:cs typeface="Calibri"/>
              </a:rPr>
              <a:t>Tạo giao diện website </a:t>
            </a:r>
            <a:r>
              <a:rPr lang="en-US">
                <a:solidFill>
                  <a:schemeClr val="bg1"/>
                </a:solidFill>
                <a:latin typeface="Calibri"/>
                <a:ea typeface="Calibri"/>
                <a:cs typeface="Calibri"/>
              </a:rPr>
              <a:t>thân thiện, </a:t>
            </a:r>
            <a:endParaRPr lang="en-US">
              <a:solidFill>
                <a:schemeClr val="bg1"/>
              </a:solidFill>
            </a:endParaRPr>
          </a:p>
        </p:txBody>
      </p:sp>
      <p:sp>
        <p:nvSpPr>
          <p:cNvPr id="6" name="TextBox 5">
            <a:extLst>
              <a:ext uri="{FF2B5EF4-FFF2-40B4-BE49-F238E27FC236}">
                <a16:creationId xmlns:a16="http://schemas.microsoft.com/office/drawing/2014/main" id="{E13A639D-A91E-A037-F5C5-5AE572DF838D}"/>
              </a:ext>
            </a:extLst>
          </p:cNvPr>
          <p:cNvSpPr txBox="1"/>
          <p:nvPr/>
        </p:nvSpPr>
        <p:spPr>
          <a:xfrm>
            <a:off x="631873" y="2027098"/>
            <a:ext cx="222223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Arial"/>
              </a:rPr>
              <a:t>HTML, CSS, JavaScript, Bootstrap</a:t>
            </a:r>
            <a:endParaRPr lang="en-US">
              <a:solidFill>
                <a:schemeClr val="bg1"/>
              </a:solidFill>
              <a:latin typeface="Calibri"/>
              <a:ea typeface="Calibri"/>
              <a:cs typeface="Calibri"/>
            </a:endParaRPr>
          </a:p>
        </p:txBody>
      </p:sp>
      <p:sp>
        <p:nvSpPr>
          <p:cNvPr id="2" name="Rectangle 1">
            <a:extLst>
              <a:ext uri="{FF2B5EF4-FFF2-40B4-BE49-F238E27FC236}">
                <a16:creationId xmlns:a16="http://schemas.microsoft.com/office/drawing/2014/main" id="{86178D32-5F27-8A66-6FD2-25D3C1F515BA}"/>
              </a:ext>
            </a:extLst>
          </p:cNvPr>
          <p:cNvSpPr/>
          <p:nvPr/>
        </p:nvSpPr>
        <p:spPr>
          <a:xfrm>
            <a:off x="4383798" y="1772503"/>
            <a:ext cx="2823513" cy="3286034"/>
          </a:xfrm>
          <a:prstGeom prst="rect">
            <a:avLst/>
          </a:prstGeom>
          <a:solidFill>
            <a:srgbClr val="29165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rgbClr val="45B0E1"/>
              </a:solidFill>
            </a:endParaRPr>
          </a:p>
        </p:txBody>
      </p:sp>
      <p:sp>
        <p:nvSpPr>
          <p:cNvPr id="4" name="TextBox 3">
            <a:extLst>
              <a:ext uri="{FF2B5EF4-FFF2-40B4-BE49-F238E27FC236}">
                <a16:creationId xmlns:a16="http://schemas.microsoft.com/office/drawing/2014/main" id="{A08F8E84-D3E4-EBB0-93DE-5AE2F3985308}"/>
              </a:ext>
            </a:extLst>
          </p:cNvPr>
          <p:cNvSpPr txBox="1"/>
          <p:nvPr/>
        </p:nvSpPr>
        <p:spPr>
          <a:xfrm>
            <a:off x="4562827" y="2910049"/>
            <a:ext cx="24641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latin typeface="Calibri"/>
                <a:ea typeface="Calibri"/>
                <a:cs typeface="Calibri"/>
              </a:rPr>
              <a:t>Xây dựng hệ thống xử lý </a:t>
            </a:r>
            <a:r>
              <a:rPr lang="en-US">
                <a:solidFill>
                  <a:schemeClr val="bg1"/>
                </a:solidFill>
                <a:latin typeface="Calibri"/>
                <a:ea typeface="Calibri"/>
                <a:cs typeface="Calibri"/>
              </a:rPr>
              <a:t>dữ liệu và cơ sở dữ liệu </a:t>
            </a:r>
            <a:endParaRPr lang="en-US">
              <a:solidFill>
                <a:schemeClr val="bg1"/>
              </a:solidFill>
            </a:endParaRPr>
          </a:p>
        </p:txBody>
      </p:sp>
      <p:sp>
        <p:nvSpPr>
          <p:cNvPr id="10" name="TextBox 9">
            <a:extLst>
              <a:ext uri="{FF2B5EF4-FFF2-40B4-BE49-F238E27FC236}">
                <a16:creationId xmlns:a16="http://schemas.microsoft.com/office/drawing/2014/main" id="{29BB02E6-009C-7F00-ABF9-2BD65F45356A}"/>
              </a:ext>
            </a:extLst>
          </p:cNvPr>
          <p:cNvSpPr txBox="1"/>
          <p:nvPr/>
        </p:nvSpPr>
        <p:spPr>
          <a:xfrm>
            <a:off x="4562825" y="2039191"/>
            <a:ext cx="2198041" cy="381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PHP và MySQL</a:t>
            </a:r>
            <a:endParaRPr lang="en-US">
              <a:solidFill>
                <a:schemeClr val="bg1"/>
              </a:solidFill>
            </a:endParaRPr>
          </a:p>
        </p:txBody>
      </p:sp>
      <p:sp>
        <p:nvSpPr>
          <p:cNvPr id="11" name="Rectangle 10">
            <a:extLst>
              <a:ext uri="{FF2B5EF4-FFF2-40B4-BE49-F238E27FC236}">
                <a16:creationId xmlns:a16="http://schemas.microsoft.com/office/drawing/2014/main" id="{B893568A-9BFF-F4E0-9D22-0792AE2B3B98}"/>
              </a:ext>
            </a:extLst>
          </p:cNvPr>
          <p:cNvSpPr/>
          <p:nvPr/>
        </p:nvSpPr>
        <p:spPr>
          <a:xfrm>
            <a:off x="8290559" y="1736217"/>
            <a:ext cx="2823513" cy="3286034"/>
          </a:xfrm>
          <a:prstGeom prst="rect">
            <a:avLst/>
          </a:prstGeom>
          <a:solidFill>
            <a:srgbClr val="E08002">
              <a:alpha val="8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12" name="TextBox 11">
            <a:extLst>
              <a:ext uri="{FF2B5EF4-FFF2-40B4-BE49-F238E27FC236}">
                <a16:creationId xmlns:a16="http://schemas.microsoft.com/office/drawing/2014/main" id="{A2FDD6DB-680C-1965-EB24-F390EF810699}"/>
              </a:ext>
            </a:extLst>
          </p:cNvPr>
          <p:cNvSpPr txBox="1"/>
          <p:nvPr/>
        </p:nvSpPr>
        <p:spPr>
          <a:xfrm>
            <a:off x="8469588" y="2752811"/>
            <a:ext cx="246413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Arial"/>
              </a:rPr>
              <a:t>Công cụ giả lập server để triển khai và kiểm thử</a:t>
            </a:r>
            <a:endParaRPr lang="en-US">
              <a:solidFill>
                <a:schemeClr val="bg1"/>
              </a:solidFill>
              <a:latin typeface="Calibri"/>
              <a:ea typeface="Calibri"/>
              <a:cs typeface="Calibri"/>
            </a:endParaRPr>
          </a:p>
        </p:txBody>
      </p:sp>
      <p:sp>
        <p:nvSpPr>
          <p:cNvPr id="13" name="TextBox 12">
            <a:extLst>
              <a:ext uri="{FF2B5EF4-FFF2-40B4-BE49-F238E27FC236}">
                <a16:creationId xmlns:a16="http://schemas.microsoft.com/office/drawing/2014/main" id="{D4840E85-35D1-E26E-2CE1-55BF17107C88}"/>
              </a:ext>
            </a:extLst>
          </p:cNvPr>
          <p:cNvSpPr txBox="1"/>
          <p:nvPr/>
        </p:nvSpPr>
        <p:spPr>
          <a:xfrm>
            <a:off x="8566348" y="2027096"/>
            <a:ext cx="2198041" cy="381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XAMPP</a:t>
            </a:r>
            <a:endParaRPr lang="en-US"/>
          </a:p>
        </p:txBody>
      </p:sp>
    </p:spTree>
    <p:extLst>
      <p:ext uri="{BB962C8B-B14F-4D97-AF65-F5344CB8AC3E}">
        <p14:creationId xmlns:p14="http://schemas.microsoft.com/office/powerpoint/2010/main" val="870401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5BC9D-5086-DB83-45F2-B4A8CADD4AEC}"/>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A1DAD6C6-48C7-45AF-16EB-E94876D3E189}"/>
              </a:ext>
            </a:extLst>
          </p:cNvPr>
          <p:cNvSpPr txBox="1"/>
          <p:nvPr/>
        </p:nvSpPr>
        <p:spPr>
          <a:xfrm>
            <a:off x="457200" y="111252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4. Mô tả bài toán</a:t>
            </a:r>
            <a:endParaRPr lang="en-US" sz="2000" dirty="0"/>
          </a:p>
        </p:txBody>
      </p:sp>
      <p:sp>
        <p:nvSpPr>
          <p:cNvPr id="3" name="Rectangle 2">
            <a:extLst>
              <a:ext uri="{FF2B5EF4-FFF2-40B4-BE49-F238E27FC236}">
                <a16:creationId xmlns:a16="http://schemas.microsoft.com/office/drawing/2014/main" id="{53E3D22F-3125-421A-45F1-9CE69CA1488F}"/>
              </a:ext>
            </a:extLst>
          </p:cNvPr>
          <p:cNvSpPr/>
          <p:nvPr/>
        </p:nvSpPr>
        <p:spPr>
          <a:xfrm>
            <a:off x="452846" y="1760409"/>
            <a:ext cx="2823513" cy="328603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5" name="TextBox 4">
            <a:extLst>
              <a:ext uri="{FF2B5EF4-FFF2-40B4-BE49-F238E27FC236}">
                <a16:creationId xmlns:a16="http://schemas.microsoft.com/office/drawing/2014/main" id="{C48C8BCC-53D1-BBD8-346D-6A42FEE04B15}"/>
              </a:ext>
            </a:extLst>
          </p:cNvPr>
          <p:cNvSpPr txBox="1"/>
          <p:nvPr/>
        </p:nvSpPr>
        <p:spPr>
          <a:xfrm>
            <a:off x="656065" y="2474621"/>
            <a:ext cx="2427850" cy="17785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Nhu cầu đi </a:t>
            </a:r>
            <a:r>
              <a:rPr lang="en-US" dirty="0">
                <a:solidFill>
                  <a:schemeClr val="bg1"/>
                </a:solidFill>
                <a:latin typeface="Calibri"/>
                <a:ea typeface="Calibri"/>
                <a:cs typeface="Calibri"/>
              </a:rPr>
              <a:t>chơi cùng gia đình, bạn bè,… muốn tìm địa điểm du lịch phù hợp với kinh tế hiện có và địa điểm </a:t>
            </a:r>
            <a:r>
              <a:rPr lang="en-US">
                <a:solidFill>
                  <a:schemeClr val="bg1"/>
                </a:solidFill>
                <a:latin typeface="Calibri"/>
                <a:ea typeface="Calibri"/>
                <a:cs typeface="Calibri"/>
              </a:rPr>
              <a:t>muốn đi</a:t>
            </a:r>
            <a:endParaRPr lang="en-US">
              <a:solidFill>
                <a:schemeClr val="bg1"/>
              </a:solidFill>
            </a:endParaRPr>
          </a:p>
        </p:txBody>
      </p:sp>
      <p:sp>
        <p:nvSpPr>
          <p:cNvPr id="7" name="TextBox 6">
            <a:extLst>
              <a:ext uri="{FF2B5EF4-FFF2-40B4-BE49-F238E27FC236}">
                <a16:creationId xmlns:a16="http://schemas.microsoft.com/office/drawing/2014/main" id="{7A243457-E5A4-6F22-5CB2-12C7F40F6B78}"/>
              </a:ext>
            </a:extLst>
          </p:cNvPr>
          <p:cNvSpPr txBox="1"/>
          <p:nvPr/>
        </p:nvSpPr>
        <p:spPr>
          <a:xfrm>
            <a:off x="1248729" y="2039190"/>
            <a:ext cx="1242518" cy="381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Bối cảnh</a:t>
            </a:r>
            <a:endParaRPr lang="en-US">
              <a:solidFill>
                <a:schemeClr val="bg1"/>
              </a:solidFill>
            </a:endParaRPr>
          </a:p>
        </p:txBody>
      </p:sp>
      <p:sp>
        <p:nvSpPr>
          <p:cNvPr id="8" name="Rectangle 7">
            <a:extLst>
              <a:ext uri="{FF2B5EF4-FFF2-40B4-BE49-F238E27FC236}">
                <a16:creationId xmlns:a16="http://schemas.microsoft.com/office/drawing/2014/main" id="{061AD5E8-9553-9196-D495-EF9C62ABFAC0}"/>
              </a:ext>
            </a:extLst>
          </p:cNvPr>
          <p:cNvSpPr/>
          <p:nvPr/>
        </p:nvSpPr>
        <p:spPr>
          <a:xfrm>
            <a:off x="4734559" y="1736218"/>
            <a:ext cx="2823513" cy="328603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9" name="TextBox 8">
            <a:extLst>
              <a:ext uri="{FF2B5EF4-FFF2-40B4-BE49-F238E27FC236}">
                <a16:creationId xmlns:a16="http://schemas.microsoft.com/office/drawing/2014/main" id="{3E2653AE-3D31-9F4E-CCFB-EB1D4A909828}"/>
              </a:ext>
            </a:extLst>
          </p:cNvPr>
          <p:cNvSpPr txBox="1"/>
          <p:nvPr/>
        </p:nvSpPr>
        <p:spPr>
          <a:xfrm>
            <a:off x="4828921" y="2462525"/>
            <a:ext cx="263346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latin typeface="Calibri"/>
                <a:ea typeface="Calibri"/>
                <a:cs typeface="Calibri"/>
              </a:rPr>
              <a:t>Các web quảng bá hiện tại còn hạn chế tìm kiếm theo giá, giao diện phức tạp người dùng khó thao tác và có thể mất nhiều thời gian </a:t>
            </a:r>
            <a:r>
              <a:rPr lang="en-US">
                <a:solidFill>
                  <a:schemeClr val="bg1"/>
                </a:solidFill>
                <a:latin typeface="Calibri"/>
                <a:ea typeface="Calibri"/>
                <a:cs typeface="Calibri"/>
              </a:rPr>
              <a:t>hơn </a:t>
            </a:r>
            <a:endParaRPr lang="en-US" dirty="0">
              <a:solidFill>
                <a:schemeClr val="bg1"/>
              </a:solidFill>
              <a:latin typeface="Calibri"/>
              <a:ea typeface="Calibri"/>
              <a:cs typeface="Calibri"/>
            </a:endParaRPr>
          </a:p>
        </p:txBody>
      </p:sp>
      <p:sp>
        <p:nvSpPr>
          <p:cNvPr id="14" name="TextBox 13">
            <a:extLst>
              <a:ext uri="{FF2B5EF4-FFF2-40B4-BE49-F238E27FC236}">
                <a16:creationId xmlns:a16="http://schemas.microsoft.com/office/drawing/2014/main" id="{DB79D78A-BF14-2ADE-85B0-E5E0CE8482A1}"/>
              </a:ext>
            </a:extLst>
          </p:cNvPr>
          <p:cNvSpPr txBox="1"/>
          <p:nvPr/>
        </p:nvSpPr>
        <p:spPr>
          <a:xfrm>
            <a:off x="5687680" y="2039190"/>
            <a:ext cx="1242518" cy="381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Vấn đề</a:t>
            </a:r>
            <a:endParaRPr lang="en-US">
              <a:solidFill>
                <a:schemeClr val="bg1"/>
              </a:solidFill>
            </a:endParaRPr>
          </a:p>
        </p:txBody>
      </p:sp>
      <p:sp>
        <p:nvSpPr>
          <p:cNvPr id="15" name="Rectangle 14">
            <a:extLst>
              <a:ext uri="{FF2B5EF4-FFF2-40B4-BE49-F238E27FC236}">
                <a16:creationId xmlns:a16="http://schemas.microsoft.com/office/drawing/2014/main" id="{739F24B3-6AB6-00B8-DF8D-FD05245EF128}"/>
              </a:ext>
            </a:extLst>
          </p:cNvPr>
          <p:cNvSpPr/>
          <p:nvPr/>
        </p:nvSpPr>
        <p:spPr>
          <a:xfrm>
            <a:off x="8859034" y="1724122"/>
            <a:ext cx="2823513" cy="3286034"/>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16" name="TextBox 15">
            <a:extLst>
              <a:ext uri="{FF2B5EF4-FFF2-40B4-BE49-F238E27FC236}">
                <a16:creationId xmlns:a16="http://schemas.microsoft.com/office/drawing/2014/main" id="{90A7F170-E8A5-2DC8-4BBA-875CB4DA0E24}"/>
              </a:ext>
            </a:extLst>
          </p:cNvPr>
          <p:cNvSpPr txBox="1"/>
          <p:nvPr/>
        </p:nvSpPr>
        <p:spPr>
          <a:xfrm>
            <a:off x="8953396" y="2450429"/>
            <a:ext cx="263346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latin typeface="Calibri"/>
                <a:ea typeface="Calibri"/>
                <a:cs typeface="Calibri"/>
              </a:rPr>
              <a:t>Xây dựng website quảng bá và đặt vé du lịch giúp người dùng dễ dàng tìm kiếm và đặt vé với giao diện đơn giản. Đối với quản trị viên dễ dàng thao tác nhanh chóng giúp việc quảng bá thuận </a:t>
            </a:r>
            <a:r>
              <a:rPr lang="en-US">
                <a:solidFill>
                  <a:schemeClr val="bg1"/>
                </a:solidFill>
                <a:latin typeface="Calibri"/>
                <a:ea typeface="Calibri"/>
                <a:cs typeface="Calibri"/>
              </a:rPr>
              <a:t>tiện hơn</a:t>
            </a:r>
            <a:endParaRPr lang="en-US">
              <a:solidFill>
                <a:schemeClr val="bg1"/>
              </a:solidFill>
            </a:endParaRPr>
          </a:p>
        </p:txBody>
      </p:sp>
      <p:sp>
        <p:nvSpPr>
          <p:cNvPr id="17" name="TextBox 16">
            <a:extLst>
              <a:ext uri="{FF2B5EF4-FFF2-40B4-BE49-F238E27FC236}">
                <a16:creationId xmlns:a16="http://schemas.microsoft.com/office/drawing/2014/main" id="{095D9125-4491-E623-0412-A027D1FEF836}"/>
              </a:ext>
            </a:extLst>
          </p:cNvPr>
          <p:cNvSpPr txBox="1"/>
          <p:nvPr/>
        </p:nvSpPr>
        <p:spPr>
          <a:xfrm>
            <a:off x="9812155" y="2027094"/>
            <a:ext cx="1242518" cy="381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Mục tiêu</a:t>
            </a:r>
            <a:endParaRPr lang="en-US"/>
          </a:p>
        </p:txBody>
      </p:sp>
    </p:spTree>
    <p:extLst>
      <p:ext uri="{BB962C8B-B14F-4D97-AF65-F5344CB8AC3E}">
        <p14:creationId xmlns:p14="http://schemas.microsoft.com/office/powerpoint/2010/main" val="901941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A7A50-0AF1-9557-9595-4AE3350F26A7}"/>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FE7431A3-BEDE-87C9-D3A0-F1B13E716268}"/>
              </a:ext>
            </a:extLst>
          </p:cNvPr>
          <p:cNvSpPr txBox="1"/>
          <p:nvPr/>
        </p:nvSpPr>
        <p:spPr>
          <a:xfrm>
            <a:off x="457200" y="111252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5. Yêu cầu chức năng</a:t>
            </a:r>
            <a:endParaRPr lang="en-US" sz="2000" dirty="0"/>
          </a:p>
        </p:txBody>
      </p:sp>
      <p:sp>
        <p:nvSpPr>
          <p:cNvPr id="13" name="Rectangle 12">
            <a:extLst>
              <a:ext uri="{FF2B5EF4-FFF2-40B4-BE49-F238E27FC236}">
                <a16:creationId xmlns:a16="http://schemas.microsoft.com/office/drawing/2014/main" id="{768707EF-9ECB-7AB1-B18A-93326A772192}"/>
              </a:ext>
            </a:extLst>
          </p:cNvPr>
          <p:cNvSpPr/>
          <p:nvPr/>
        </p:nvSpPr>
        <p:spPr>
          <a:xfrm>
            <a:off x="3125891" y="3308596"/>
            <a:ext cx="2823513" cy="806511"/>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35" name="TextBox 34">
            <a:extLst>
              <a:ext uri="{FF2B5EF4-FFF2-40B4-BE49-F238E27FC236}">
                <a16:creationId xmlns:a16="http://schemas.microsoft.com/office/drawing/2014/main" id="{7581D0CB-F14D-8FF4-47D4-4F23A58F986A}"/>
              </a:ext>
            </a:extLst>
          </p:cNvPr>
          <p:cNvSpPr txBox="1"/>
          <p:nvPr/>
        </p:nvSpPr>
        <p:spPr>
          <a:xfrm>
            <a:off x="7932056" y="1511660"/>
            <a:ext cx="147078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Người quản trị</a:t>
            </a:r>
          </a:p>
        </p:txBody>
      </p:sp>
      <p:sp>
        <p:nvSpPr>
          <p:cNvPr id="18" name="TextBox 17">
            <a:extLst>
              <a:ext uri="{FF2B5EF4-FFF2-40B4-BE49-F238E27FC236}">
                <a16:creationId xmlns:a16="http://schemas.microsoft.com/office/drawing/2014/main" id="{3F4D7265-7E7A-E54C-8332-94FD2CC424AD}"/>
              </a:ext>
            </a:extLst>
          </p:cNvPr>
          <p:cNvSpPr txBox="1"/>
          <p:nvPr/>
        </p:nvSpPr>
        <p:spPr>
          <a:xfrm>
            <a:off x="3571011" y="3526899"/>
            <a:ext cx="25004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latin typeface="Calibri"/>
                <a:ea typeface="Calibri"/>
                <a:cs typeface="Calibri"/>
              </a:rPr>
              <a:t>Xem lịch </a:t>
            </a:r>
            <a:r>
              <a:rPr lang="en-US">
                <a:solidFill>
                  <a:schemeClr val="bg1"/>
                </a:solidFill>
                <a:latin typeface="Calibri"/>
                <a:ea typeface="Calibri"/>
                <a:cs typeface="Calibri"/>
              </a:rPr>
              <a:t>sử đặt vé</a:t>
            </a:r>
            <a:endParaRPr lang="en-US"/>
          </a:p>
        </p:txBody>
      </p:sp>
      <p:sp>
        <p:nvSpPr>
          <p:cNvPr id="3" name="Rectangle 2">
            <a:extLst>
              <a:ext uri="{FF2B5EF4-FFF2-40B4-BE49-F238E27FC236}">
                <a16:creationId xmlns:a16="http://schemas.microsoft.com/office/drawing/2014/main" id="{38F52013-588D-0E63-97FF-E3745DB583E6}"/>
              </a:ext>
            </a:extLst>
          </p:cNvPr>
          <p:cNvSpPr/>
          <p:nvPr/>
        </p:nvSpPr>
        <p:spPr>
          <a:xfrm>
            <a:off x="162560" y="2171647"/>
            <a:ext cx="2823513" cy="806511"/>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7" name="TextBox 6">
            <a:extLst>
              <a:ext uri="{FF2B5EF4-FFF2-40B4-BE49-F238E27FC236}">
                <a16:creationId xmlns:a16="http://schemas.microsoft.com/office/drawing/2014/main" id="{909D7049-59F1-3DDA-ED3A-801F0F8914D7}"/>
              </a:ext>
            </a:extLst>
          </p:cNvPr>
          <p:cNvSpPr txBox="1"/>
          <p:nvPr/>
        </p:nvSpPr>
        <p:spPr>
          <a:xfrm>
            <a:off x="1031014" y="2365761"/>
            <a:ext cx="1242518" cy="381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Đăng ký</a:t>
            </a:r>
            <a:endParaRPr lang="en-US" dirty="0">
              <a:solidFill>
                <a:schemeClr val="bg1"/>
              </a:solidFill>
              <a:latin typeface="Calibri"/>
              <a:ea typeface="Calibri"/>
              <a:cs typeface="Calibri"/>
            </a:endParaRPr>
          </a:p>
        </p:txBody>
      </p:sp>
      <p:sp>
        <p:nvSpPr>
          <p:cNvPr id="22" name="Rectangle 21">
            <a:extLst>
              <a:ext uri="{FF2B5EF4-FFF2-40B4-BE49-F238E27FC236}">
                <a16:creationId xmlns:a16="http://schemas.microsoft.com/office/drawing/2014/main" id="{A2D45BD9-F314-67CA-55EF-EB39CC157D1D}"/>
              </a:ext>
            </a:extLst>
          </p:cNvPr>
          <p:cNvSpPr/>
          <p:nvPr/>
        </p:nvSpPr>
        <p:spPr>
          <a:xfrm>
            <a:off x="3113794" y="2159547"/>
            <a:ext cx="2823513" cy="806511"/>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23" name="TextBox 22">
            <a:extLst>
              <a:ext uri="{FF2B5EF4-FFF2-40B4-BE49-F238E27FC236}">
                <a16:creationId xmlns:a16="http://schemas.microsoft.com/office/drawing/2014/main" id="{E55FD197-0720-D918-A651-65A96A4739DC}"/>
              </a:ext>
            </a:extLst>
          </p:cNvPr>
          <p:cNvSpPr txBox="1"/>
          <p:nvPr/>
        </p:nvSpPr>
        <p:spPr>
          <a:xfrm>
            <a:off x="3558916" y="2377851"/>
            <a:ext cx="25004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Sửa thông tin cá nhân</a:t>
            </a:r>
            <a:endParaRPr lang="en-US">
              <a:solidFill>
                <a:schemeClr val="bg1"/>
              </a:solidFill>
            </a:endParaRPr>
          </a:p>
        </p:txBody>
      </p:sp>
      <p:sp>
        <p:nvSpPr>
          <p:cNvPr id="2" name="Rectangle 1">
            <a:extLst>
              <a:ext uri="{FF2B5EF4-FFF2-40B4-BE49-F238E27FC236}">
                <a16:creationId xmlns:a16="http://schemas.microsoft.com/office/drawing/2014/main" id="{2C92D792-8A58-AC9B-8E61-46AC4FA1F5C2}"/>
              </a:ext>
            </a:extLst>
          </p:cNvPr>
          <p:cNvSpPr/>
          <p:nvPr/>
        </p:nvSpPr>
        <p:spPr>
          <a:xfrm>
            <a:off x="186750" y="3296503"/>
            <a:ext cx="2823513" cy="806511"/>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4" name="TextBox 3">
            <a:extLst>
              <a:ext uri="{FF2B5EF4-FFF2-40B4-BE49-F238E27FC236}">
                <a16:creationId xmlns:a16="http://schemas.microsoft.com/office/drawing/2014/main" id="{8FFA0811-C313-973A-6C82-B548F79275FF}"/>
              </a:ext>
            </a:extLst>
          </p:cNvPr>
          <p:cNvSpPr txBox="1"/>
          <p:nvPr/>
        </p:nvSpPr>
        <p:spPr>
          <a:xfrm>
            <a:off x="414157" y="3514807"/>
            <a:ext cx="25971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Đăng  nhập/ đăng xuất</a:t>
            </a:r>
            <a:endParaRPr lang="en-US" dirty="0">
              <a:solidFill>
                <a:schemeClr val="bg1"/>
              </a:solidFill>
              <a:latin typeface="Calibri"/>
              <a:ea typeface="Calibri"/>
              <a:cs typeface="Calibri"/>
            </a:endParaRPr>
          </a:p>
        </p:txBody>
      </p:sp>
      <p:sp>
        <p:nvSpPr>
          <p:cNvPr id="6" name="Rectangle 5">
            <a:extLst>
              <a:ext uri="{FF2B5EF4-FFF2-40B4-BE49-F238E27FC236}">
                <a16:creationId xmlns:a16="http://schemas.microsoft.com/office/drawing/2014/main" id="{E5681999-0D4F-209B-38F8-8EB468316529}"/>
              </a:ext>
            </a:extLst>
          </p:cNvPr>
          <p:cNvSpPr/>
          <p:nvPr/>
        </p:nvSpPr>
        <p:spPr>
          <a:xfrm>
            <a:off x="174654" y="4469740"/>
            <a:ext cx="2823513" cy="806511"/>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10" name="TextBox 9">
            <a:extLst>
              <a:ext uri="{FF2B5EF4-FFF2-40B4-BE49-F238E27FC236}">
                <a16:creationId xmlns:a16="http://schemas.microsoft.com/office/drawing/2014/main" id="{9817B9CF-9345-1AD1-87C9-8EA0D20CAA72}"/>
              </a:ext>
            </a:extLst>
          </p:cNvPr>
          <p:cNvSpPr txBox="1"/>
          <p:nvPr/>
        </p:nvSpPr>
        <p:spPr>
          <a:xfrm>
            <a:off x="402062" y="4688044"/>
            <a:ext cx="25971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Tìm kiếm địa điểm du lịch</a:t>
            </a:r>
            <a:endParaRPr lang="en-US"/>
          </a:p>
        </p:txBody>
      </p:sp>
      <p:sp>
        <p:nvSpPr>
          <p:cNvPr id="11" name="Rectangle 10">
            <a:extLst>
              <a:ext uri="{FF2B5EF4-FFF2-40B4-BE49-F238E27FC236}">
                <a16:creationId xmlns:a16="http://schemas.microsoft.com/office/drawing/2014/main" id="{D9DA9B6D-BB2B-0917-77B3-5D94599BF50A}"/>
              </a:ext>
            </a:extLst>
          </p:cNvPr>
          <p:cNvSpPr/>
          <p:nvPr/>
        </p:nvSpPr>
        <p:spPr>
          <a:xfrm>
            <a:off x="198844" y="5594596"/>
            <a:ext cx="2823513" cy="806511"/>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12" name="TextBox 11">
            <a:extLst>
              <a:ext uri="{FF2B5EF4-FFF2-40B4-BE49-F238E27FC236}">
                <a16:creationId xmlns:a16="http://schemas.microsoft.com/office/drawing/2014/main" id="{1299F495-406B-C3BA-FE2B-B1A5A95512A1}"/>
              </a:ext>
            </a:extLst>
          </p:cNvPr>
          <p:cNvSpPr txBox="1"/>
          <p:nvPr/>
        </p:nvSpPr>
        <p:spPr>
          <a:xfrm>
            <a:off x="1188251" y="5812900"/>
            <a:ext cx="103689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Đặt vé</a:t>
            </a:r>
          </a:p>
        </p:txBody>
      </p:sp>
      <p:sp>
        <p:nvSpPr>
          <p:cNvPr id="27" name="TextBox 26">
            <a:extLst>
              <a:ext uri="{FF2B5EF4-FFF2-40B4-BE49-F238E27FC236}">
                <a16:creationId xmlns:a16="http://schemas.microsoft.com/office/drawing/2014/main" id="{49CD4ABD-849D-8FAF-59DC-246A02EC98CF}"/>
              </a:ext>
            </a:extLst>
          </p:cNvPr>
          <p:cNvSpPr txBox="1"/>
          <p:nvPr/>
        </p:nvSpPr>
        <p:spPr>
          <a:xfrm>
            <a:off x="505580" y="1560043"/>
            <a:ext cx="147078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Người dùng</a:t>
            </a:r>
          </a:p>
        </p:txBody>
      </p:sp>
      <p:sp>
        <p:nvSpPr>
          <p:cNvPr id="38" name="Rectangle 37">
            <a:extLst>
              <a:ext uri="{FF2B5EF4-FFF2-40B4-BE49-F238E27FC236}">
                <a16:creationId xmlns:a16="http://schemas.microsoft.com/office/drawing/2014/main" id="{556DAE2B-FAFA-FD0E-D323-451845B72799}"/>
              </a:ext>
            </a:extLst>
          </p:cNvPr>
          <p:cNvSpPr/>
          <p:nvPr/>
        </p:nvSpPr>
        <p:spPr>
          <a:xfrm>
            <a:off x="7214082" y="2135360"/>
            <a:ext cx="2823513" cy="806511"/>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39" name="TextBox 38">
            <a:extLst>
              <a:ext uri="{FF2B5EF4-FFF2-40B4-BE49-F238E27FC236}">
                <a16:creationId xmlns:a16="http://schemas.microsoft.com/office/drawing/2014/main" id="{DFFAAFF7-0ED2-9E11-5CCA-40A11642B83B}"/>
              </a:ext>
            </a:extLst>
          </p:cNvPr>
          <p:cNvSpPr txBox="1"/>
          <p:nvPr/>
        </p:nvSpPr>
        <p:spPr>
          <a:xfrm>
            <a:off x="7574536" y="2353665"/>
            <a:ext cx="23673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Đăng nhập/ đăng xuất</a:t>
            </a:r>
            <a:endParaRPr lang="en-US" dirty="0">
              <a:solidFill>
                <a:schemeClr val="bg1"/>
              </a:solidFill>
              <a:latin typeface="Calibri"/>
              <a:ea typeface="Calibri"/>
              <a:cs typeface="Calibri"/>
            </a:endParaRPr>
          </a:p>
        </p:txBody>
      </p:sp>
      <p:sp>
        <p:nvSpPr>
          <p:cNvPr id="42" name="Rectangle 41">
            <a:extLst>
              <a:ext uri="{FF2B5EF4-FFF2-40B4-BE49-F238E27FC236}">
                <a16:creationId xmlns:a16="http://schemas.microsoft.com/office/drawing/2014/main" id="{3543DC6F-1F29-5F60-7760-F9697EFBB95E}"/>
              </a:ext>
            </a:extLst>
          </p:cNvPr>
          <p:cNvSpPr/>
          <p:nvPr/>
        </p:nvSpPr>
        <p:spPr>
          <a:xfrm>
            <a:off x="7238272" y="3260216"/>
            <a:ext cx="2823513" cy="806511"/>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43" name="TextBox 42">
            <a:extLst>
              <a:ext uri="{FF2B5EF4-FFF2-40B4-BE49-F238E27FC236}">
                <a16:creationId xmlns:a16="http://schemas.microsoft.com/office/drawing/2014/main" id="{5F728C98-F737-283A-1990-00797F3512CB}"/>
              </a:ext>
            </a:extLst>
          </p:cNvPr>
          <p:cNvSpPr txBox="1"/>
          <p:nvPr/>
        </p:nvSpPr>
        <p:spPr>
          <a:xfrm>
            <a:off x="7441489" y="3418044"/>
            <a:ext cx="259718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Quản lý thông tin địa điểm du lịch</a:t>
            </a:r>
            <a:endParaRPr lang="en-US" dirty="0">
              <a:solidFill>
                <a:schemeClr val="bg1"/>
              </a:solidFill>
              <a:latin typeface="Calibri"/>
              <a:ea typeface="Calibri"/>
              <a:cs typeface="Calibri"/>
            </a:endParaRPr>
          </a:p>
        </p:txBody>
      </p:sp>
      <p:sp>
        <p:nvSpPr>
          <p:cNvPr id="44" name="Rectangle 43">
            <a:extLst>
              <a:ext uri="{FF2B5EF4-FFF2-40B4-BE49-F238E27FC236}">
                <a16:creationId xmlns:a16="http://schemas.microsoft.com/office/drawing/2014/main" id="{E4A24F5D-C240-9184-C9AA-4FFCC24DAC66}"/>
              </a:ext>
            </a:extLst>
          </p:cNvPr>
          <p:cNvSpPr/>
          <p:nvPr/>
        </p:nvSpPr>
        <p:spPr>
          <a:xfrm>
            <a:off x="7226176" y="4433453"/>
            <a:ext cx="2823513" cy="806511"/>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45" name="TextBox 44">
            <a:extLst>
              <a:ext uri="{FF2B5EF4-FFF2-40B4-BE49-F238E27FC236}">
                <a16:creationId xmlns:a16="http://schemas.microsoft.com/office/drawing/2014/main" id="{0E132D2C-9349-5B69-BE61-478CBBE555AA}"/>
              </a:ext>
            </a:extLst>
          </p:cNvPr>
          <p:cNvSpPr txBox="1"/>
          <p:nvPr/>
        </p:nvSpPr>
        <p:spPr>
          <a:xfrm>
            <a:off x="7598727" y="4651757"/>
            <a:ext cx="25971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Quản lý tour du lịch</a:t>
            </a:r>
            <a:endParaRPr lang="en-US"/>
          </a:p>
        </p:txBody>
      </p:sp>
      <p:sp>
        <p:nvSpPr>
          <p:cNvPr id="46" name="Rectangle 45">
            <a:extLst>
              <a:ext uri="{FF2B5EF4-FFF2-40B4-BE49-F238E27FC236}">
                <a16:creationId xmlns:a16="http://schemas.microsoft.com/office/drawing/2014/main" id="{9E2A1C77-4DD8-419C-4C8C-FE28FBDC44AC}"/>
              </a:ext>
            </a:extLst>
          </p:cNvPr>
          <p:cNvSpPr/>
          <p:nvPr/>
        </p:nvSpPr>
        <p:spPr>
          <a:xfrm>
            <a:off x="7250366" y="5558309"/>
            <a:ext cx="2823513" cy="806511"/>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45B0E1"/>
              </a:solidFill>
            </a:endParaRPr>
          </a:p>
        </p:txBody>
      </p:sp>
      <p:sp>
        <p:nvSpPr>
          <p:cNvPr id="47" name="TextBox 46">
            <a:extLst>
              <a:ext uri="{FF2B5EF4-FFF2-40B4-BE49-F238E27FC236}">
                <a16:creationId xmlns:a16="http://schemas.microsoft.com/office/drawing/2014/main" id="{0ED3F667-3C65-FD0A-1AF1-013EF6552364}"/>
              </a:ext>
            </a:extLst>
          </p:cNvPr>
          <p:cNvSpPr txBox="1"/>
          <p:nvPr/>
        </p:nvSpPr>
        <p:spPr>
          <a:xfrm>
            <a:off x="8058345" y="5861280"/>
            <a:ext cx="16900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Calibri"/>
                <a:ea typeface="Calibri"/>
                <a:cs typeface="Calibri"/>
              </a:rPr>
              <a:t>Quản lý vé</a:t>
            </a:r>
          </a:p>
        </p:txBody>
      </p:sp>
    </p:spTree>
    <p:extLst>
      <p:ext uri="{BB962C8B-B14F-4D97-AF65-F5344CB8AC3E}">
        <p14:creationId xmlns:p14="http://schemas.microsoft.com/office/powerpoint/2010/main" val="2547798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06894-A527-E779-1883-5FD72A359CB0}"/>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BF681FDF-75A0-A418-A033-3975581C75AC}"/>
              </a:ext>
            </a:extLst>
          </p:cNvPr>
          <p:cNvSpPr txBox="1"/>
          <p:nvPr/>
        </p:nvSpPr>
        <p:spPr>
          <a:xfrm>
            <a:off x="457200" y="111252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6. Yêu cầu phi chức năng</a:t>
            </a:r>
            <a:endParaRPr lang="en-US" sz="2000" dirty="0"/>
          </a:p>
        </p:txBody>
      </p:sp>
      <p:sp>
        <p:nvSpPr>
          <p:cNvPr id="26" name="TextBox 25">
            <a:extLst>
              <a:ext uri="{FF2B5EF4-FFF2-40B4-BE49-F238E27FC236}">
                <a16:creationId xmlns:a16="http://schemas.microsoft.com/office/drawing/2014/main" id="{80BAFD1D-FE30-68CC-BF58-2CE2997748A7}"/>
              </a:ext>
            </a:extLst>
          </p:cNvPr>
          <p:cNvSpPr txBox="1"/>
          <p:nvPr/>
        </p:nvSpPr>
        <p:spPr>
          <a:xfrm>
            <a:off x="-3703562" y="1556082"/>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2.  </a:t>
            </a:r>
            <a:r>
              <a:rPr lang="en-US" sz="2000" dirty="0" err="1"/>
              <a:t>Mục</a:t>
            </a:r>
            <a:r>
              <a:rPr lang="en-US" sz="2000" dirty="0"/>
              <a:t> </a:t>
            </a:r>
            <a:r>
              <a:rPr lang="en-US" sz="2000" dirty="0" err="1"/>
              <a:t>đích</a:t>
            </a:r>
            <a:r>
              <a:rPr lang="en-US" sz="2000" dirty="0"/>
              <a:t> </a:t>
            </a:r>
            <a:r>
              <a:rPr lang="en-US" sz="2000" dirty="0" err="1"/>
              <a:t>nghiên</a:t>
            </a:r>
            <a:r>
              <a:rPr lang="en-US" sz="2000" dirty="0"/>
              <a:t> </a:t>
            </a:r>
            <a:r>
              <a:rPr lang="en-US" sz="2000" dirty="0" err="1"/>
              <a:t>cứu</a:t>
            </a:r>
          </a:p>
        </p:txBody>
      </p:sp>
      <p:sp>
        <p:nvSpPr>
          <p:cNvPr id="28" name="TextBox 27">
            <a:extLst>
              <a:ext uri="{FF2B5EF4-FFF2-40B4-BE49-F238E27FC236}">
                <a16:creationId xmlns:a16="http://schemas.microsoft.com/office/drawing/2014/main" id="{B76791A2-69DE-AC6B-C858-26C3514C1E82}"/>
              </a:ext>
            </a:extLst>
          </p:cNvPr>
          <p:cNvSpPr txBox="1"/>
          <p:nvPr/>
        </p:nvSpPr>
        <p:spPr>
          <a:xfrm>
            <a:off x="-3703562" y="1963358"/>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3. </a:t>
            </a:r>
            <a:r>
              <a:rPr lang="en-US" sz="2000" dirty="0" err="1"/>
              <a:t>Cơ</a:t>
            </a:r>
            <a:r>
              <a:rPr lang="en-US" sz="2000" dirty="0"/>
              <a:t> </a:t>
            </a:r>
            <a:r>
              <a:rPr lang="en-US" sz="2000" dirty="0" err="1"/>
              <a:t>sở</a:t>
            </a:r>
            <a:r>
              <a:rPr lang="en-US" sz="2000" dirty="0"/>
              <a:t> </a:t>
            </a:r>
            <a:r>
              <a:rPr lang="en-US" sz="2000" dirty="0" err="1"/>
              <a:t>lý</a:t>
            </a:r>
            <a:r>
              <a:rPr lang="en-US" sz="2000" dirty="0"/>
              <a:t> </a:t>
            </a:r>
            <a:r>
              <a:rPr lang="en-US" sz="2000" dirty="0" err="1"/>
              <a:t>thuyết</a:t>
            </a:r>
            <a:endParaRPr lang="en-US" dirty="0" err="1"/>
          </a:p>
        </p:txBody>
      </p:sp>
      <p:sp>
        <p:nvSpPr>
          <p:cNvPr id="29" name="TextBox 28">
            <a:extLst>
              <a:ext uri="{FF2B5EF4-FFF2-40B4-BE49-F238E27FC236}">
                <a16:creationId xmlns:a16="http://schemas.microsoft.com/office/drawing/2014/main" id="{A4482D9C-D1E4-9D7B-B199-13DBFD46A123}"/>
              </a:ext>
            </a:extLst>
          </p:cNvPr>
          <p:cNvSpPr txBox="1"/>
          <p:nvPr/>
        </p:nvSpPr>
        <p:spPr>
          <a:xfrm>
            <a:off x="-3703562" y="2357496"/>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4. </a:t>
            </a:r>
            <a:r>
              <a:rPr lang="en-US" sz="2000" dirty="0" err="1"/>
              <a:t>Mô</a:t>
            </a:r>
            <a:r>
              <a:rPr lang="en-US" sz="2000" dirty="0"/>
              <a:t> </a:t>
            </a:r>
            <a:r>
              <a:rPr lang="en-US" sz="2000" dirty="0" err="1"/>
              <a:t>tả</a:t>
            </a:r>
            <a:r>
              <a:rPr lang="en-US" sz="2000" dirty="0"/>
              <a:t> </a:t>
            </a:r>
            <a:r>
              <a:rPr lang="en-US" sz="2000" dirty="0" err="1"/>
              <a:t>bài</a:t>
            </a:r>
            <a:r>
              <a:rPr lang="en-US" sz="2000" dirty="0"/>
              <a:t> </a:t>
            </a:r>
            <a:r>
              <a:rPr lang="en-US" sz="2000" dirty="0" err="1"/>
              <a:t>toán</a:t>
            </a:r>
            <a:endParaRPr lang="en-US" dirty="0" err="1"/>
          </a:p>
        </p:txBody>
      </p:sp>
      <p:sp>
        <p:nvSpPr>
          <p:cNvPr id="30" name="TextBox 29">
            <a:extLst>
              <a:ext uri="{FF2B5EF4-FFF2-40B4-BE49-F238E27FC236}">
                <a16:creationId xmlns:a16="http://schemas.microsoft.com/office/drawing/2014/main" id="{E76E79AB-F9A8-D159-08B8-3579F239AE7A}"/>
              </a:ext>
            </a:extLst>
          </p:cNvPr>
          <p:cNvSpPr txBox="1"/>
          <p:nvPr/>
        </p:nvSpPr>
        <p:spPr>
          <a:xfrm>
            <a:off x="-3703562" y="2751634"/>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5. </a:t>
            </a:r>
            <a:r>
              <a:rPr lang="en-US" sz="2000" dirty="0" err="1"/>
              <a:t>Yêu</a:t>
            </a:r>
            <a:r>
              <a:rPr lang="en-US" sz="2000" dirty="0"/>
              <a:t> </a:t>
            </a:r>
            <a:r>
              <a:rPr lang="en-US" sz="2000" dirty="0" err="1"/>
              <a:t>cầu</a:t>
            </a:r>
            <a:r>
              <a:rPr lang="en-US" sz="2000" dirty="0"/>
              <a:t> </a:t>
            </a:r>
            <a:r>
              <a:rPr lang="en-US" sz="2000" dirty="0" err="1"/>
              <a:t>chức</a:t>
            </a:r>
            <a:r>
              <a:rPr lang="en-US" sz="2000" dirty="0"/>
              <a:t> </a:t>
            </a:r>
            <a:r>
              <a:rPr lang="en-US" sz="2000" dirty="0" err="1"/>
              <a:t>năng</a:t>
            </a:r>
            <a:endParaRPr lang="en-US" dirty="0" err="1"/>
          </a:p>
        </p:txBody>
      </p:sp>
      <p:sp>
        <p:nvSpPr>
          <p:cNvPr id="31" name="TextBox 30">
            <a:extLst>
              <a:ext uri="{FF2B5EF4-FFF2-40B4-BE49-F238E27FC236}">
                <a16:creationId xmlns:a16="http://schemas.microsoft.com/office/drawing/2014/main" id="{E301B6A1-6BD7-0C1A-2C3B-E764A2B9189A}"/>
              </a:ext>
            </a:extLst>
          </p:cNvPr>
          <p:cNvSpPr txBox="1"/>
          <p:nvPr/>
        </p:nvSpPr>
        <p:spPr>
          <a:xfrm>
            <a:off x="-3703562" y="3145772"/>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6. </a:t>
            </a:r>
            <a:r>
              <a:rPr lang="en-US" sz="2000" dirty="0" err="1"/>
              <a:t>Yêu</a:t>
            </a:r>
            <a:r>
              <a:rPr lang="en-US" sz="2000" dirty="0"/>
              <a:t> </a:t>
            </a:r>
            <a:r>
              <a:rPr lang="en-US" sz="2000" dirty="0" err="1"/>
              <a:t>cầu</a:t>
            </a:r>
            <a:r>
              <a:rPr lang="en-US" sz="2000" dirty="0"/>
              <a:t> phi </a:t>
            </a:r>
            <a:r>
              <a:rPr lang="en-US" sz="2000" dirty="0" err="1"/>
              <a:t>chức</a:t>
            </a:r>
            <a:r>
              <a:rPr lang="en-US" sz="2000" dirty="0"/>
              <a:t> </a:t>
            </a:r>
            <a:r>
              <a:rPr lang="en-US" sz="2000" dirty="0" err="1"/>
              <a:t>năng</a:t>
            </a:r>
            <a:endParaRPr lang="en-US" dirty="0" err="1"/>
          </a:p>
        </p:txBody>
      </p:sp>
      <p:sp>
        <p:nvSpPr>
          <p:cNvPr id="32" name="TextBox 31">
            <a:extLst>
              <a:ext uri="{FF2B5EF4-FFF2-40B4-BE49-F238E27FC236}">
                <a16:creationId xmlns:a16="http://schemas.microsoft.com/office/drawing/2014/main" id="{E6A593F5-215C-2DEB-6CB4-30B13924C53C}"/>
              </a:ext>
            </a:extLst>
          </p:cNvPr>
          <p:cNvSpPr txBox="1"/>
          <p:nvPr/>
        </p:nvSpPr>
        <p:spPr>
          <a:xfrm>
            <a:off x="-3703562" y="353991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7. </a:t>
            </a:r>
            <a:r>
              <a:rPr lang="en-US" sz="2000" dirty="0" err="1"/>
              <a:t>Cơ</a:t>
            </a:r>
            <a:r>
              <a:rPr lang="en-US" sz="2000" dirty="0"/>
              <a:t> </a:t>
            </a:r>
            <a:r>
              <a:rPr lang="en-US" sz="2000" dirty="0" err="1"/>
              <a:t>sở</a:t>
            </a:r>
            <a:r>
              <a:rPr lang="en-US" sz="2000" dirty="0"/>
              <a:t> </a:t>
            </a:r>
            <a:r>
              <a:rPr lang="en-US" sz="2000" dirty="0" err="1"/>
              <a:t>dữ</a:t>
            </a:r>
            <a:r>
              <a:rPr lang="en-US" sz="2000" dirty="0"/>
              <a:t> </a:t>
            </a:r>
            <a:r>
              <a:rPr lang="en-US" sz="2000" dirty="0" err="1"/>
              <a:t>liệu</a:t>
            </a:r>
            <a:endParaRPr lang="en-US" dirty="0" err="1"/>
          </a:p>
        </p:txBody>
      </p:sp>
      <p:sp>
        <p:nvSpPr>
          <p:cNvPr id="33" name="TextBox 32">
            <a:extLst>
              <a:ext uri="{FF2B5EF4-FFF2-40B4-BE49-F238E27FC236}">
                <a16:creationId xmlns:a16="http://schemas.microsoft.com/office/drawing/2014/main" id="{00E2A89E-DB0E-61E7-856E-0A5320CBAD23}"/>
              </a:ext>
            </a:extLst>
          </p:cNvPr>
          <p:cNvSpPr txBox="1"/>
          <p:nvPr/>
        </p:nvSpPr>
        <p:spPr>
          <a:xfrm>
            <a:off x="-3703562" y="3934048"/>
            <a:ext cx="36339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8. </a:t>
            </a:r>
            <a:r>
              <a:rPr lang="en-US" sz="2000" dirty="0" err="1"/>
              <a:t>Kết</a:t>
            </a:r>
            <a:r>
              <a:rPr lang="en-US" sz="2000" dirty="0"/>
              <a:t> </a:t>
            </a:r>
            <a:r>
              <a:rPr lang="en-US" sz="2000" dirty="0" err="1"/>
              <a:t>luận</a:t>
            </a:r>
            <a:r>
              <a:rPr lang="en-US" sz="2000" dirty="0"/>
              <a:t> </a:t>
            </a:r>
            <a:r>
              <a:rPr lang="en-US" sz="2000" dirty="0" err="1"/>
              <a:t>và</a:t>
            </a:r>
            <a:r>
              <a:rPr lang="en-US" sz="2000" dirty="0"/>
              <a:t> </a:t>
            </a:r>
            <a:r>
              <a:rPr lang="en-US" sz="2000" dirty="0" err="1"/>
              <a:t>hướng</a:t>
            </a:r>
            <a:r>
              <a:rPr lang="en-US" sz="2000" dirty="0"/>
              <a:t> </a:t>
            </a:r>
            <a:r>
              <a:rPr lang="en-US" sz="2000" dirty="0" err="1"/>
              <a:t>phát</a:t>
            </a:r>
            <a:r>
              <a:rPr lang="en-US" sz="2000" dirty="0"/>
              <a:t> </a:t>
            </a:r>
            <a:r>
              <a:rPr lang="en-US" sz="2000" dirty="0" err="1"/>
              <a:t>triển</a:t>
            </a:r>
            <a:endParaRPr lang="en-US" dirty="0" err="1"/>
          </a:p>
        </p:txBody>
      </p:sp>
      <p:sp>
        <p:nvSpPr>
          <p:cNvPr id="34" name="TextBox 33">
            <a:extLst>
              <a:ext uri="{FF2B5EF4-FFF2-40B4-BE49-F238E27FC236}">
                <a16:creationId xmlns:a16="http://schemas.microsoft.com/office/drawing/2014/main" id="{C6C8A220-D0B8-E5D6-16EF-298145A0A32B}"/>
              </a:ext>
            </a:extLst>
          </p:cNvPr>
          <p:cNvSpPr txBox="1"/>
          <p:nvPr/>
        </p:nvSpPr>
        <p:spPr>
          <a:xfrm>
            <a:off x="-3703562" y="4328186"/>
            <a:ext cx="36339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9. </a:t>
            </a:r>
            <a:r>
              <a:rPr lang="en-US" sz="2000" dirty="0" err="1"/>
              <a:t>Kết</a:t>
            </a:r>
            <a:r>
              <a:rPr lang="en-US" sz="2000" dirty="0"/>
              <a:t> </a:t>
            </a:r>
            <a:r>
              <a:rPr lang="en-US" sz="2000" dirty="0" err="1"/>
              <a:t>quả</a:t>
            </a:r>
            <a:r>
              <a:rPr lang="en-US" sz="2000" dirty="0"/>
              <a:t> </a:t>
            </a:r>
            <a:r>
              <a:rPr lang="en-US" sz="2000" dirty="0" err="1"/>
              <a:t>thực</a:t>
            </a:r>
            <a:r>
              <a:rPr lang="en-US" sz="2000" dirty="0"/>
              <a:t> </a:t>
            </a:r>
            <a:r>
              <a:rPr lang="en-US" sz="2000" dirty="0" err="1"/>
              <a:t>nghiệm</a:t>
            </a:r>
            <a:endParaRPr lang="en-US" dirty="0" err="1"/>
          </a:p>
        </p:txBody>
      </p:sp>
      <p:sp>
        <p:nvSpPr>
          <p:cNvPr id="5" name="TextBox 4">
            <a:extLst>
              <a:ext uri="{FF2B5EF4-FFF2-40B4-BE49-F238E27FC236}">
                <a16:creationId xmlns:a16="http://schemas.microsoft.com/office/drawing/2014/main" id="{866B939C-24A2-C262-5652-85BF21528345}"/>
              </a:ext>
            </a:extLst>
          </p:cNvPr>
          <p:cNvSpPr txBox="1"/>
          <p:nvPr/>
        </p:nvSpPr>
        <p:spPr>
          <a:xfrm>
            <a:off x="517675" y="1959187"/>
            <a:ext cx="5063066"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a:t>Giao diện thân thiện </a:t>
            </a:r>
            <a:endParaRPr lang="en-US"/>
          </a:p>
          <a:p>
            <a:endParaRPr lang="en-US" sz="2000" dirty="0"/>
          </a:p>
          <a:p>
            <a:pPr marL="342900" indent="-342900">
              <a:buFont typeface="Arial"/>
              <a:buChar char="•"/>
            </a:pPr>
            <a:r>
              <a:rPr lang="en-US" sz="2000"/>
              <a:t>Màu sắc dễ chịu </a:t>
            </a:r>
          </a:p>
          <a:p>
            <a:endParaRPr lang="en-US" sz="2000" dirty="0"/>
          </a:p>
          <a:p>
            <a:pPr marL="342900" indent="-342900">
              <a:buFont typeface="Arial"/>
              <a:buChar char="•"/>
            </a:pPr>
            <a:r>
              <a:rPr lang="en-US" sz="2000" dirty="0"/>
              <a:t>Tương thích các trình duyệt </a:t>
            </a:r>
            <a:r>
              <a:rPr lang="en-US" sz="2000"/>
              <a:t>phổ biến</a:t>
            </a:r>
            <a:endParaRPr lang="en-US" sz="2000" dirty="0"/>
          </a:p>
        </p:txBody>
      </p:sp>
    </p:spTree>
    <p:extLst>
      <p:ext uri="{BB962C8B-B14F-4D97-AF65-F5344CB8AC3E}">
        <p14:creationId xmlns:p14="http://schemas.microsoft.com/office/powerpoint/2010/main" val="90912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C0C84-8089-6CDF-1D2A-217C048F1D94}"/>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7447E092-FBB3-2BFC-1D52-D50643DF6314}"/>
              </a:ext>
            </a:extLst>
          </p:cNvPr>
          <p:cNvSpPr txBox="1"/>
          <p:nvPr/>
        </p:nvSpPr>
        <p:spPr>
          <a:xfrm>
            <a:off x="457200" y="111252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7. Cơ sở dữ liệu</a:t>
            </a:r>
            <a:endParaRPr lang="en-US"/>
          </a:p>
        </p:txBody>
      </p:sp>
      <p:sp>
        <p:nvSpPr>
          <p:cNvPr id="26" name="TextBox 25">
            <a:extLst>
              <a:ext uri="{FF2B5EF4-FFF2-40B4-BE49-F238E27FC236}">
                <a16:creationId xmlns:a16="http://schemas.microsoft.com/office/drawing/2014/main" id="{9F0AC5A0-AB1A-1417-5DE4-1B63ECF909AB}"/>
              </a:ext>
            </a:extLst>
          </p:cNvPr>
          <p:cNvSpPr txBox="1"/>
          <p:nvPr/>
        </p:nvSpPr>
        <p:spPr>
          <a:xfrm>
            <a:off x="-3703562" y="1556082"/>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2.  </a:t>
            </a:r>
            <a:r>
              <a:rPr lang="en-US" sz="2000" dirty="0" err="1"/>
              <a:t>Mục</a:t>
            </a:r>
            <a:r>
              <a:rPr lang="en-US" sz="2000" dirty="0"/>
              <a:t> </a:t>
            </a:r>
            <a:r>
              <a:rPr lang="en-US" sz="2000" dirty="0" err="1"/>
              <a:t>đích</a:t>
            </a:r>
            <a:r>
              <a:rPr lang="en-US" sz="2000" dirty="0"/>
              <a:t> </a:t>
            </a:r>
            <a:r>
              <a:rPr lang="en-US" sz="2000" dirty="0" err="1"/>
              <a:t>nghiên</a:t>
            </a:r>
            <a:r>
              <a:rPr lang="en-US" sz="2000" dirty="0"/>
              <a:t> </a:t>
            </a:r>
            <a:r>
              <a:rPr lang="en-US" sz="2000" dirty="0" err="1"/>
              <a:t>cứu</a:t>
            </a:r>
          </a:p>
        </p:txBody>
      </p:sp>
      <p:sp>
        <p:nvSpPr>
          <p:cNvPr id="28" name="TextBox 27">
            <a:extLst>
              <a:ext uri="{FF2B5EF4-FFF2-40B4-BE49-F238E27FC236}">
                <a16:creationId xmlns:a16="http://schemas.microsoft.com/office/drawing/2014/main" id="{9FFE2BE0-96FB-64B4-E148-6DB631874158}"/>
              </a:ext>
            </a:extLst>
          </p:cNvPr>
          <p:cNvSpPr txBox="1"/>
          <p:nvPr/>
        </p:nvSpPr>
        <p:spPr>
          <a:xfrm>
            <a:off x="-3703562" y="1963358"/>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3. </a:t>
            </a:r>
            <a:r>
              <a:rPr lang="en-US" sz="2000" dirty="0" err="1"/>
              <a:t>Cơ</a:t>
            </a:r>
            <a:r>
              <a:rPr lang="en-US" sz="2000" dirty="0"/>
              <a:t> </a:t>
            </a:r>
            <a:r>
              <a:rPr lang="en-US" sz="2000" dirty="0" err="1"/>
              <a:t>sở</a:t>
            </a:r>
            <a:r>
              <a:rPr lang="en-US" sz="2000" dirty="0"/>
              <a:t> </a:t>
            </a:r>
            <a:r>
              <a:rPr lang="en-US" sz="2000" dirty="0" err="1"/>
              <a:t>lý</a:t>
            </a:r>
            <a:r>
              <a:rPr lang="en-US" sz="2000" dirty="0"/>
              <a:t> </a:t>
            </a:r>
            <a:r>
              <a:rPr lang="en-US" sz="2000" dirty="0" err="1"/>
              <a:t>thuyết</a:t>
            </a:r>
            <a:endParaRPr lang="en-US" dirty="0" err="1"/>
          </a:p>
        </p:txBody>
      </p:sp>
      <p:sp>
        <p:nvSpPr>
          <p:cNvPr id="29" name="TextBox 28">
            <a:extLst>
              <a:ext uri="{FF2B5EF4-FFF2-40B4-BE49-F238E27FC236}">
                <a16:creationId xmlns:a16="http://schemas.microsoft.com/office/drawing/2014/main" id="{68A1C7DF-5F85-A726-85BA-A4DA8249E321}"/>
              </a:ext>
            </a:extLst>
          </p:cNvPr>
          <p:cNvSpPr txBox="1"/>
          <p:nvPr/>
        </p:nvSpPr>
        <p:spPr>
          <a:xfrm>
            <a:off x="-3703562" y="2357496"/>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4. </a:t>
            </a:r>
            <a:r>
              <a:rPr lang="en-US" sz="2000" dirty="0" err="1"/>
              <a:t>Mô</a:t>
            </a:r>
            <a:r>
              <a:rPr lang="en-US" sz="2000" dirty="0"/>
              <a:t> </a:t>
            </a:r>
            <a:r>
              <a:rPr lang="en-US" sz="2000" dirty="0" err="1"/>
              <a:t>tả</a:t>
            </a:r>
            <a:r>
              <a:rPr lang="en-US" sz="2000" dirty="0"/>
              <a:t> </a:t>
            </a:r>
            <a:r>
              <a:rPr lang="en-US" sz="2000" dirty="0" err="1"/>
              <a:t>bài</a:t>
            </a:r>
            <a:r>
              <a:rPr lang="en-US" sz="2000" dirty="0"/>
              <a:t> </a:t>
            </a:r>
            <a:r>
              <a:rPr lang="en-US" sz="2000" dirty="0" err="1"/>
              <a:t>toán</a:t>
            </a:r>
            <a:endParaRPr lang="en-US" dirty="0" err="1"/>
          </a:p>
        </p:txBody>
      </p:sp>
      <p:sp>
        <p:nvSpPr>
          <p:cNvPr id="30" name="TextBox 29">
            <a:extLst>
              <a:ext uri="{FF2B5EF4-FFF2-40B4-BE49-F238E27FC236}">
                <a16:creationId xmlns:a16="http://schemas.microsoft.com/office/drawing/2014/main" id="{4C1842AB-6117-C754-D8FB-53C73BC42FDF}"/>
              </a:ext>
            </a:extLst>
          </p:cNvPr>
          <p:cNvSpPr txBox="1"/>
          <p:nvPr/>
        </p:nvSpPr>
        <p:spPr>
          <a:xfrm>
            <a:off x="-3703562" y="2751634"/>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5. </a:t>
            </a:r>
            <a:r>
              <a:rPr lang="en-US" sz="2000" dirty="0" err="1"/>
              <a:t>Yêu</a:t>
            </a:r>
            <a:r>
              <a:rPr lang="en-US" sz="2000" dirty="0"/>
              <a:t> </a:t>
            </a:r>
            <a:r>
              <a:rPr lang="en-US" sz="2000" dirty="0" err="1"/>
              <a:t>cầu</a:t>
            </a:r>
            <a:r>
              <a:rPr lang="en-US" sz="2000" dirty="0"/>
              <a:t> </a:t>
            </a:r>
            <a:r>
              <a:rPr lang="en-US" sz="2000" dirty="0" err="1"/>
              <a:t>chức</a:t>
            </a:r>
            <a:r>
              <a:rPr lang="en-US" sz="2000" dirty="0"/>
              <a:t> </a:t>
            </a:r>
            <a:r>
              <a:rPr lang="en-US" sz="2000" dirty="0" err="1"/>
              <a:t>năng</a:t>
            </a:r>
            <a:endParaRPr lang="en-US" dirty="0" err="1"/>
          </a:p>
        </p:txBody>
      </p:sp>
      <p:sp>
        <p:nvSpPr>
          <p:cNvPr id="31" name="TextBox 30">
            <a:extLst>
              <a:ext uri="{FF2B5EF4-FFF2-40B4-BE49-F238E27FC236}">
                <a16:creationId xmlns:a16="http://schemas.microsoft.com/office/drawing/2014/main" id="{C207683E-5C9A-C41F-B88C-A42E4469E0A9}"/>
              </a:ext>
            </a:extLst>
          </p:cNvPr>
          <p:cNvSpPr txBox="1"/>
          <p:nvPr/>
        </p:nvSpPr>
        <p:spPr>
          <a:xfrm>
            <a:off x="-3703562" y="3145772"/>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6. </a:t>
            </a:r>
            <a:r>
              <a:rPr lang="en-US" sz="2000" dirty="0" err="1"/>
              <a:t>Yêu</a:t>
            </a:r>
            <a:r>
              <a:rPr lang="en-US" sz="2000" dirty="0"/>
              <a:t> </a:t>
            </a:r>
            <a:r>
              <a:rPr lang="en-US" sz="2000" dirty="0" err="1"/>
              <a:t>cầu</a:t>
            </a:r>
            <a:r>
              <a:rPr lang="en-US" sz="2000" dirty="0"/>
              <a:t> phi </a:t>
            </a:r>
            <a:r>
              <a:rPr lang="en-US" sz="2000" dirty="0" err="1"/>
              <a:t>chức</a:t>
            </a:r>
            <a:r>
              <a:rPr lang="en-US" sz="2000" dirty="0"/>
              <a:t> </a:t>
            </a:r>
            <a:r>
              <a:rPr lang="en-US" sz="2000" dirty="0" err="1"/>
              <a:t>năng</a:t>
            </a:r>
            <a:endParaRPr lang="en-US" dirty="0" err="1"/>
          </a:p>
        </p:txBody>
      </p:sp>
      <p:sp>
        <p:nvSpPr>
          <p:cNvPr id="32" name="TextBox 31">
            <a:extLst>
              <a:ext uri="{FF2B5EF4-FFF2-40B4-BE49-F238E27FC236}">
                <a16:creationId xmlns:a16="http://schemas.microsoft.com/office/drawing/2014/main" id="{68F59E75-0889-4535-A4C3-3022438C3602}"/>
              </a:ext>
            </a:extLst>
          </p:cNvPr>
          <p:cNvSpPr txBox="1"/>
          <p:nvPr/>
        </p:nvSpPr>
        <p:spPr>
          <a:xfrm>
            <a:off x="-3703562" y="353991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7. </a:t>
            </a:r>
            <a:r>
              <a:rPr lang="en-US" sz="2000" dirty="0" err="1"/>
              <a:t>Cơ</a:t>
            </a:r>
            <a:r>
              <a:rPr lang="en-US" sz="2000" dirty="0"/>
              <a:t> </a:t>
            </a:r>
            <a:r>
              <a:rPr lang="en-US" sz="2000" dirty="0" err="1"/>
              <a:t>sở</a:t>
            </a:r>
            <a:r>
              <a:rPr lang="en-US" sz="2000" dirty="0"/>
              <a:t> </a:t>
            </a:r>
            <a:r>
              <a:rPr lang="en-US" sz="2000" dirty="0" err="1"/>
              <a:t>dữ</a:t>
            </a:r>
            <a:r>
              <a:rPr lang="en-US" sz="2000" dirty="0"/>
              <a:t> </a:t>
            </a:r>
            <a:r>
              <a:rPr lang="en-US" sz="2000" dirty="0" err="1"/>
              <a:t>liệu</a:t>
            </a:r>
            <a:endParaRPr lang="en-US" dirty="0" err="1"/>
          </a:p>
        </p:txBody>
      </p:sp>
      <p:sp>
        <p:nvSpPr>
          <p:cNvPr id="33" name="TextBox 32">
            <a:extLst>
              <a:ext uri="{FF2B5EF4-FFF2-40B4-BE49-F238E27FC236}">
                <a16:creationId xmlns:a16="http://schemas.microsoft.com/office/drawing/2014/main" id="{DADAFD5B-7ADA-8401-0B0C-A92C12F72871}"/>
              </a:ext>
            </a:extLst>
          </p:cNvPr>
          <p:cNvSpPr txBox="1"/>
          <p:nvPr/>
        </p:nvSpPr>
        <p:spPr>
          <a:xfrm>
            <a:off x="-3703562" y="3934048"/>
            <a:ext cx="36339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8. </a:t>
            </a:r>
            <a:r>
              <a:rPr lang="en-US" sz="2000" dirty="0" err="1"/>
              <a:t>Kết</a:t>
            </a:r>
            <a:r>
              <a:rPr lang="en-US" sz="2000" dirty="0"/>
              <a:t> </a:t>
            </a:r>
            <a:r>
              <a:rPr lang="en-US" sz="2000" dirty="0" err="1"/>
              <a:t>luận</a:t>
            </a:r>
            <a:r>
              <a:rPr lang="en-US" sz="2000" dirty="0"/>
              <a:t> </a:t>
            </a:r>
            <a:r>
              <a:rPr lang="en-US" sz="2000" dirty="0" err="1"/>
              <a:t>và</a:t>
            </a:r>
            <a:r>
              <a:rPr lang="en-US" sz="2000" dirty="0"/>
              <a:t> </a:t>
            </a:r>
            <a:r>
              <a:rPr lang="en-US" sz="2000" dirty="0" err="1"/>
              <a:t>hướng</a:t>
            </a:r>
            <a:r>
              <a:rPr lang="en-US" sz="2000" dirty="0"/>
              <a:t> </a:t>
            </a:r>
            <a:r>
              <a:rPr lang="en-US" sz="2000" dirty="0" err="1"/>
              <a:t>phát</a:t>
            </a:r>
            <a:r>
              <a:rPr lang="en-US" sz="2000" dirty="0"/>
              <a:t> </a:t>
            </a:r>
            <a:r>
              <a:rPr lang="en-US" sz="2000" dirty="0" err="1"/>
              <a:t>triển</a:t>
            </a:r>
            <a:endParaRPr lang="en-US" dirty="0" err="1"/>
          </a:p>
        </p:txBody>
      </p:sp>
      <p:sp>
        <p:nvSpPr>
          <p:cNvPr id="34" name="TextBox 33">
            <a:extLst>
              <a:ext uri="{FF2B5EF4-FFF2-40B4-BE49-F238E27FC236}">
                <a16:creationId xmlns:a16="http://schemas.microsoft.com/office/drawing/2014/main" id="{8BE544F0-A130-F4DD-793C-36F69D92063F}"/>
              </a:ext>
            </a:extLst>
          </p:cNvPr>
          <p:cNvSpPr txBox="1"/>
          <p:nvPr/>
        </p:nvSpPr>
        <p:spPr>
          <a:xfrm>
            <a:off x="-3703562" y="4328186"/>
            <a:ext cx="36339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9. </a:t>
            </a:r>
            <a:r>
              <a:rPr lang="en-US" sz="2000" dirty="0" err="1"/>
              <a:t>Kết</a:t>
            </a:r>
            <a:r>
              <a:rPr lang="en-US" sz="2000" dirty="0"/>
              <a:t> </a:t>
            </a:r>
            <a:r>
              <a:rPr lang="en-US" sz="2000" dirty="0" err="1"/>
              <a:t>quả</a:t>
            </a:r>
            <a:r>
              <a:rPr lang="en-US" sz="2000" dirty="0"/>
              <a:t> </a:t>
            </a:r>
            <a:r>
              <a:rPr lang="en-US" sz="2000" dirty="0" err="1"/>
              <a:t>thực</a:t>
            </a:r>
            <a:r>
              <a:rPr lang="en-US" sz="2000" dirty="0"/>
              <a:t> </a:t>
            </a:r>
            <a:r>
              <a:rPr lang="en-US" sz="2000" dirty="0" err="1"/>
              <a:t>nghiệm</a:t>
            </a:r>
            <a:endParaRPr lang="en-US" dirty="0" err="1"/>
          </a:p>
        </p:txBody>
      </p:sp>
      <p:pic>
        <p:nvPicPr>
          <p:cNvPr id="2" name="Picture 1" descr="A screenshot of a computer program&#10;&#10;AI-generated content may be incorrect.">
            <a:extLst>
              <a:ext uri="{FF2B5EF4-FFF2-40B4-BE49-F238E27FC236}">
                <a16:creationId xmlns:a16="http://schemas.microsoft.com/office/drawing/2014/main" id="{75DEA387-D9CD-1180-773D-1AE8B1BA1B97}"/>
              </a:ext>
            </a:extLst>
          </p:cNvPr>
          <p:cNvPicPr>
            <a:picLocks noChangeAspect="1"/>
          </p:cNvPicPr>
          <p:nvPr/>
        </p:nvPicPr>
        <p:blipFill>
          <a:blip r:embed="rId2"/>
          <a:stretch>
            <a:fillRect/>
          </a:stretch>
        </p:blipFill>
        <p:spPr>
          <a:xfrm>
            <a:off x="1269395" y="1553482"/>
            <a:ext cx="7125305" cy="5323417"/>
          </a:xfrm>
          <a:prstGeom prst="rect">
            <a:avLst/>
          </a:prstGeom>
        </p:spPr>
      </p:pic>
    </p:spTree>
    <p:extLst>
      <p:ext uri="{BB962C8B-B14F-4D97-AF65-F5344CB8AC3E}">
        <p14:creationId xmlns:p14="http://schemas.microsoft.com/office/powerpoint/2010/main" val="3047401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D275-C0A0-310C-F20E-0C15A801A999}"/>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4A58E627-B51E-B355-2158-16F563546AB3}"/>
              </a:ext>
            </a:extLst>
          </p:cNvPr>
          <p:cNvSpPr txBox="1"/>
          <p:nvPr/>
        </p:nvSpPr>
        <p:spPr>
          <a:xfrm>
            <a:off x="457200" y="1112520"/>
            <a:ext cx="419220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8. Kết luận và hướng phát triển</a:t>
            </a:r>
            <a:endParaRPr lang="en-US"/>
          </a:p>
        </p:txBody>
      </p:sp>
      <p:sp>
        <p:nvSpPr>
          <p:cNvPr id="26" name="TextBox 25">
            <a:extLst>
              <a:ext uri="{FF2B5EF4-FFF2-40B4-BE49-F238E27FC236}">
                <a16:creationId xmlns:a16="http://schemas.microsoft.com/office/drawing/2014/main" id="{A6F0F0AB-D6C6-E7E4-6591-7B79D1B2870F}"/>
              </a:ext>
            </a:extLst>
          </p:cNvPr>
          <p:cNvSpPr txBox="1"/>
          <p:nvPr/>
        </p:nvSpPr>
        <p:spPr>
          <a:xfrm>
            <a:off x="-3703562" y="1556082"/>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2.  </a:t>
            </a:r>
            <a:r>
              <a:rPr lang="en-US" sz="2000" dirty="0" err="1"/>
              <a:t>Mục</a:t>
            </a:r>
            <a:r>
              <a:rPr lang="en-US" sz="2000" dirty="0"/>
              <a:t> </a:t>
            </a:r>
            <a:r>
              <a:rPr lang="en-US" sz="2000" dirty="0" err="1"/>
              <a:t>đích</a:t>
            </a:r>
            <a:r>
              <a:rPr lang="en-US" sz="2000" dirty="0"/>
              <a:t> </a:t>
            </a:r>
            <a:r>
              <a:rPr lang="en-US" sz="2000" dirty="0" err="1"/>
              <a:t>nghiên</a:t>
            </a:r>
            <a:r>
              <a:rPr lang="en-US" sz="2000" dirty="0"/>
              <a:t> </a:t>
            </a:r>
            <a:r>
              <a:rPr lang="en-US" sz="2000" dirty="0" err="1"/>
              <a:t>cứu</a:t>
            </a:r>
          </a:p>
        </p:txBody>
      </p:sp>
      <p:sp>
        <p:nvSpPr>
          <p:cNvPr id="28" name="TextBox 27">
            <a:extLst>
              <a:ext uri="{FF2B5EF4-FFF2-40B4-BE49-F238E27FC236}">
                <a16:creationId xmlns:a16="http://schemas.microsoft.com/office/drawing/2014/main" id="{EA7A44CC-1AA9-082D-58B9-48B906381312}"/>
              </a:ext>
            </a:extLst>
          </p:cNvPr>
          <p:cNvSpPr txBox="1"/>
          <p:nvPr/>
        </p:nvSpPr>
        <p:spPr>
          <a:xfrm>
            <a:off x="-3703562" y="1963358"/>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3. </a:t>
            </a:r>
            <a:r>
              <a:rPr lang="en-US" sz="2000" dirty="0" err="1"/>
              <a:t>Cơ</a:t>
            </a:r>
            <a:r>
              <a:rPr lang="en-US" sz="2000" dirty="0"/>
              <a:t> </a:t>
            </a:r>
            <a:r>
              <a:rPr lang="en-US" sz="2000" dirty="0" err="1"/>
              <a:t>sở</a:t>
            </a:r>
            <a:r>
              <a:rPr lang="en-US" sz="2000" dirty="0"/>
              <a:t> </a:t>
            </a:r>
            <a:r>
              <a:rPr lang="en-US" sz="2000" dirty="0" err="1"/>
              <a:t>lý</a:t>
            </a:r>
            <a:r>
              <a:rPr lang="en-US" sz="2000" dirty="0"/>
              <a:t> </a:t>
            </a:r>
            <a:r>
              <a:rPr lang="en-US" sz="2000" dirty="0" err="1"/>
              <a:t>thuyết</a:t>
            </a:r>
            <a:endParaRPr lang="en-US" dirty="0" err="1"/>
          </a:p>
        </p:txBody>
      </p:sp>
      <p:sp>
        <p:nvSpPr>
          <p:cNvPr id="29" name="TextBox 28">
            <a:extLst>
              <a:ext uri="{FF2B5EF4-FFF2-40B4-BE49-F238E27FC236}">
                <a16:creationId xmlns:a16="http://schemas.microsoft.com/office/drawing/2014/main" id="{26850C4E-AEF8-BECF-C49F-B85D11D92FFE}"/>
              </a:ext>
            </a:extLst>
          </p:cNvPr>
          <p:cNvSpPr txBox="1"/>
          <p:nvPr/>
        </p:nvSpPr>
        <p:spPr>
          <a:xfrm>
            <a:off x="-3703562" y="2357496"/>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4. </a:t>
            </a:r>
            <a:r>
              <a:rPr lang="en-US" sz="2000" dirty="0" err="1"/>
              <a:t>Mô</a:t>
            </a:r>
            <a:r>
              <a:rPr lang="en-US" sz="2000" dirty="0"/>
              <a:t> </a:t>
            </a:r>
            <a:r>
              <a:rPr lang="en-US" sz="2000" dirty="0" err="1"/>
              <a:t>tả</a:t>
            </a:r>
            <a:r>
              <a:rPr lang="en-US" sz="2000" dirty="0"/>
              <a:t> </a:t>
            </a:r>
            <a:r>
              <a:rPr lang="en-US" sz="2000" dirty="0" err="1"/>
              <a:t>bài</a:t>
            </a:r>
            <a:r>
              <a:rPr lang="en-US" sz="2000" dirty="0"/>
              <a:t> </a:t>
            </a:r>
            <a:r>
              <a:rPr lang="en-US" sz="2000" dirty="0" err="1"/>
              <a:t>toán</a:t>
            </a:r>
            <a:endParaRPr lang="en-US" dirty="0" err="1"/>
          </a:p>
        </p:txBody>
      </p:sp>
      <p:sp>
        <p:nvSpPr>
          <p:cNvPr id="30" name="TextBox 29">
            <a:extLst>
              <a:ext uri="{FF2B5EF4-FFF2-40B4-BE49-F238E27FC236}">
                <a16:creationId xmlns:a16="http://schemas.microsoft.com/office/drawing/2014/main" id="{507365CA-2593-4F92-9EE9-FCD2DE7E88D5}"/>
              </a:ext>
            </a:extLst>
          </p:cNvPr>
          <p:cNvSpPr txBox="1"/>
          <p:nvPr/>
        </p:nvSpPr>
        <p:spPr>
          <a:xfrm>
            <a:off x="-3703562" y="2751634"/>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5. </a:t>
            </a:r>
            <a:r>
              <a:rPr lang="en-US" sz="2000" dirty="0" err="1"/>
              <a:t>Yêu</a:t>
            </a:r>
            <a:r>
              <a:rPr lang="en-US" sz="2000" dirty="0"/>
              <a:t> </a:t>
            </a:r>
            <a:r>
              <a:rPr lang="en-US" sz="2000" dirty="0" err="1"/>
              <a:t>cầu</a:t>
            </a:r>
            <a:r>
              <a:rPr lang="en-US" sz="2000" dirty="0"/>
              <a:t> </a:t>
            </a:r>
            <a:r>
              <a:rPr lang="en-US" sz="2000" dirty="0" err="1"/>
              <a:t>chức</a:t>
            </a:r>
            <a:r>
              <a:rPr lang="en-US" sz="2000" dirty="0"/>
              <a:t> </a:t>
            </a:r>
            <a:r>
              <a:rPr lang="en-US" sz="2000" dirty="0" err="1"/>
              <a:t>năng</a:t>
            </a:r>
            <a:endParaRPr lang="en-US" dirty="0" err="1"/>
          </a:p>
        </p:txBody>
      </p:sp>
      <p:sp>
        <p:nvSpPr>
          <p:cNvPr id="31" name="TextBox 30">
            <a:extLst>
              <a:ext uri="{FF2B5EF4-FFF2-40B4-BE49-F238E27FC236}">
                <a16:creationId xmlns:a16="http://schemas.microsoft.com/office/drawing/2014/main" id="{CB0DEF66-7BD6-D6C0-AC35-193516158FB2}"/>
              </a:ext>
            </a:extLst>
          </p:cNvPr>
          <p:cNvSpPr txBox="1"/>
          <p:nvPr/>
        </p:nvSpPr>
        <p:spPr>
          <a:xfrm>
            <a:off x="-3703562" y="3145772"/>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6. </a:t>
            </a:r>
            <a:r>
              <a:rPr lang="en-US" sz="2000" dirty="0" err="1"/>
              <a:t>Yêu</a:t>
            </a:r>
            <a:r>
              <a:rPr lang="en-US" sz="2000" dirty="0"/>
              <a:t> </a:t>
            </a:r>
            <a:r>
              <a:rPr lang="en-US" sz="2000" dirty="0" err="1"/>
              <a:t>cầu</a:t>
            </a:r>
            <a:r>
              <a:rPr lang="en-US" sz="2000" dirty="0"/>
              <a:t> phi </a:t>
            </a:r>
            <a:r>
              <a:rPr lang="en-US" sz="2000" dirty="0" err="1"/>
              <a:t>chức</a:t>
            </a:r>
            <a:r>
              <a:rPr lang="en-US" sz="2000" dirty="0"/>
              <a:t> </a:t>
            </a:r>
            <a:r>
              <a:rPr lang="en-US" sz="2000" dirty="0" err="1"/>
              <a:t>năng</a:t>
            </a:r>
            <a:endParaRPr lang="en-US" dirty="0" err="1"/>
          </a:p>
        </p:txBody>
      </p:sp>
      <p:sp>
        <p:nvSpPr>
          <p:cNvPr id="32" name="TextBox 31">
            <a:extLst>
              <a:ext uri="{FF2B5EF4-FFF2-40B4-BE49-F238E27FC236}">
                <a16:creationId xmlns:a16="http://schemas.microsoft.com/office/drawing/2014/main" id="{27562328-81B5-D0D2-9392-ED82E2E3D6B9}"/>
              </a:ext>
            </a:extLst>
          </p:cNvPr>
          <p:cNvSpPr txBox="1"/>
          <p:nvPr/>
        </p:nvSpPr>
        <p:spPr>
          <a:xfrm>
            <a:off x="-3703562" y="353991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7. </a:t>
            </a:r>
            <a:r>
              <a:rPr lang="en-US" sz="2000" dirty="0" err="1"/>
              <a:t>Cơ</a:t>
            </a:r>
            <a:r>
              <a:rPr lang="en-US" sz="2000" dirty="0"/>
              <a:t> </a:t>
            </a:r>
            <a:r>
              <a:rPr lang="en-US" sz="2000" dirty="0" err="1"/>
              <a:t>sở</a:t>
            </a:r>
            <a:r>
              <a:rPr lang="en-US" sz="2000" dirty="0"/>
              <a:t> </a:t>
            </a:r>
            <a:r>
              <a:rPr lang="en-US" sz="2000" dirty="0" err="1"/>
              <a:t>dữ</a:t>
            </a:r>
            <a:r>
              <a:rPr lang="en-US" sz="2000" dirty="0"/>
              <a:t> </a:t>
            </a:r>
            <a:r>
              <a:rPr lang="en-US" sz="2000" dirty="0" err="1"/>
              <a:t>liệu</a:t>
            </a:r>
            <a:endParaRPr lang="en-US" dirty="0" err="1"/>
          </a:p>
        </p:txBody>
      </p:sp>
      <p:sp>
        <p:nvSpPr>
          <p:cNvPr id="33" name="TextBox 32">
            <a:extLst>
              <a:ext uri="{FF2B5EF4-FFF2-40B4-BE49-F238E27FC236}">
                <a16:creationId xmlns:a16="http://schemas.microsoft.com/office/drawing/2014/main" id="{59D5625C-700C-B03A-0DC8-A7438F9E5C4A}"/>
              </a:ext>
            </a:extLst>
          </p:cNvPr>
          <p:cNvSpPr txBox="1"/>
          <p:nvPr/>
        </p:nvSpPr>
        <p:spPr>
          <a:xfrm>
            <a:off x="-3703562" y="3934048"/>
            <a:ext cx="36339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8. </a:t>
            </a:r>
            <a:r>
              <a:rPr lang="en-US" sz="2000" dirty="0" err="1"/>
              <a:t>Kết</a:t>
            </a:r>
            <a:r>
              <a:rPr lang="en-US" sz="2000" dirty="0"/>
              <a:t> </a:t>
            </a:r>
            <a:r>
              <a:rPr lang="en-US" sz="2000" dirty="0" err="1"/>
              <a:t>luận</a:t>
            </a:r>
            <a:r>
              <a:rPr lang="en-US" sz="2000" dirty="0"/>
              <a:t> </a:t>
            </a:r>
            <a:r>
              <a:rPr lang="en-US" sz="2000" dirty="0" err="1"/>
              <a:t>và</a:t>
            </a:r>
            <a:r>
              <a:rPr lang="en-US" sz="2000" dirty="0"/>
              <a:t> </a:t>
            </a:r>
            <a:r>
              <a:rPr lang="en-US" sz="2000" dirty="0" err="1"/>
              <a:t>hướng</a:t>
            </a:r>
            <a:r>
              <a:rPr lang="en-US" sz="2000" dirty="0"/>
              <a:t> </a:t>
            </a:r>
            <a:r>
              <a:rPr lang="en-US" sz="2000" dirty="0" err="1"/>
              <a:t>phát</a:t>
            </a:r>
            <a:r>
              <a:rPr lang="en-US" sz="2000" dirty="0"/>
              <a:t> </a:t>
            </a:r>
            <a:r>
              <a:rPr lang="en-US" sz="2000" dirty="0" err="1"/>
              <a:t>triển</a:t>
            </a:r>
            <a:endParaRPr lang="en-US" dirty="0" err="1"/>
          </a:p>
        </p:txBody>
      </p:sp>
      <p:sp>
        <p:nvSpPr>
          <p:cNvPr id="34" name="TextBox 33">
            <a:extLst>
              <a:ext uri="{FF2B5EF4-FFF2-40B4-BE49-F238E27FC236}">
                <a16:creationId xmlns:a16="http://schemas.microsoft.com/office/drawing/2014/main" id="{559E54BB-A6A7-42B3-6A7E-BCD05DCEEC8C}"/>
              </a:ext>
            </a:extLst>
          </p:cNvPr>
          <p:cNvSpPr txBox="1"/>
          <p:nvPr/>
        </p:nvSpPr>
        <p:spPr>
          <a:xfrm>
            <a:off x="-3703562" y="4328186"/>
            <a:ext cx="36339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9. </a:t>
            </a:r>
            <a:r>
              <a:rPr lang="en-US" sz="2000" dirty="0" err="1"/>
              <a:t>Kết</a:t>
            </a:r>
            <a:r>
              <a:rPr lang="en-US" sz="2000" dirty="0"/>
              <a:t> </a:t>
            </a:r>
            <a:r>
              <a:rPr lang="en-US" sz="2000" dirty="0" err="1"/>
              <a:t>quả</a:t>
            </a:r>
            <a:r>
              <a:rPr lang="en-US" sz="2000" dirty="0"/>
              <a:t> </a:t>
            </a:r>
            <a:r>
              <a:rPr lang="en-US" sz="2000" dirty="0" err="1"/>
              <a:t>thực</a:t>
            </a:r>
            <a:r>
              <a:rPr lang="en-US" sz="2000" dirty="0"/>
              <a:t> </a:t>
            </a:r>
            <a:r>
              <a:rPr lang="en-US" sz="2000" dirty="0" err="1"/>
              <a:t>nghiệm</a:t>
            </a:r>
            <a:endParaRPr lang="en-US" dirty="0" err="1"/>
          </a:p>
        </p:txBody>
      </p:sp>
      <p:sp>
        <p:nvSpPr>
          <p:cNvPr id="3" name="Rectangle 2">
            <a:extLst>
              <a:ext uri="{FF2B5EF4-FFF2-40B4-BE49-F238E27FC236}">
                <a16:creationId xmlns:a16="http://schemas.microsoft.com/office/drawing/2014/main" id="{143D0972-FB4C-7C3E-8A38-BDCF130FF5D1}"/>
              </a:ext>
            </a:extLst>
          </p:cNvPr>
          <p:cNvSpPr/>
          <p:nvPr/>
        </p:nvSpPr>
        <p:spPr>
          <a:xfrm>
            <a:off x="555610" y="1533712"/>
            <a:ext cx="4821424" cy="5033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F1D0E4D-A15F-6421-B741-F2A168B835F4}"/>
              </a:ext>
            </a:extLst>
          </p:cNvPr>
          <p:cNvSpPr txBox="1"/>
          <p:nvPr/>
        </p:nvSpPr>
        <p:spPr>
          <a:xfrm>
            <a:off x="741624" y="2851883"/>
            <a:ext cx="445426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Dự án xây dựng website quảng bá và đặt vé </a:t>
            </a:r>
            <a:r>
              <a:rPr lang="en-US">
                <a:solidFill>
                  <a:schemeClr val="bg1"/>
                </a:solidFill>
              </a:rPr>
              <a:t>du lịch Việt Nam đạ kết quả tích  cực:</a:t>
            </a:r>
            <a:endParaRPr lang="en-US" dirty="0">
              <a:solidFill>
                <a:schemeClr val="bg1"/>
              </a:solidFill>
            </a:endParaRPr>
          </a:p>
          <a:p>
            <a:endParaRPr lang="en-US" dirty="0">
              <a:solidFill>
                <a:schemeClr val="bg1"/>
              </a:solidFill>
            </a:endParaRPr>
          </a:p>
          <a:p>
            <a:r>
              <a:rPr lang="en-US" dirty="0">
                <a:solidFill>
                  <a:schemeClr val="bg1"/>
                </a:solidFill>
              </a:rPr>
              <a:t>Xây dựng website thân thiện, dễ dàng thao tác, hoàn thành đươc các chức năng của người dùng và quản trị viên giúp người dùng dễ thao tác trong quá trình tìm kiếm địa điểm du lịch và đặt vé, quản trị viên thao </a:t>
            </a:r>
            <a:r>
              <a:rPr lang="en-US">
                <a:solidFill>
                  <a:schemeClr val="bg1"/>
                </a:solidFill>
              </a:rPr>
              <a:t>tác đơn giản giúp thuận tiện trong việc quảng bá.</a:t>
            </a:r>
            <a:endParaRPr lang="en-US" dirty="0">
              <a:solidFill>
                <a:schemeClr val="bg1"/>
              </a:solidFill>
            </a:endParaRPr>
          </a:p>
        </p:txBody>
      </p:sp>
      <p:sp>
        <p:nvSpPr>
          <p:cNvPr id="6" name="TextBox 5">
            <a:extLst>
              <a:ext uri="{FF2B5EF4-FFF2-40B4-BE49-F238E27FC236}">
                <a16:creationId xmlns:a16="http://schemas.microsoft.com/office/drawing/2014/main" id="{CE77F908-7870-64D2-A5F2-671F993180EE}"/>
              </a:ext>
            </a:extLst>
          </p:cNvPr>
          <p:cNvSpPr txBox="1"/>
          <p:nvPr/>
        </p:nvSpPr>
        <p:spPr>
          <a:xfrm>
            <a:off x="741624" y="1896359"/>
            <a:ext cx="24585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Kết luận:</a:t>
            </a:r>
            <a:endParaRPr lang="en-US" dirty="0">
              <a:solidFill>
                <a:schemeClr val="bg1"/>
              </a:solidFill>
            </a:endParaRPr>
          </a:p>
        </p:txBody>
      </p:sp>
      <p:sp>
        <p:nvSpPr>
          <p:cNvPr id="7" name="Rectangle 6">
            <a:extLst>
              <a:ext uri="{FF2B5EF4-FFF2-40B4-BE49-F238E27FC236}">
                <a16:creationId xmlns:a16="http://schemas.microsoft.com/office/drawing/2014/main" id="{48DE7B94-CEE1-3146-BA06-5D537BF649BC}"/>
              </a:ext>
            </a:extLst>
          </p:cNvPr>
          <p:cNvSpPr/>
          <p:nvPr/>
        </p:nvSpPr>
        <p:spPr>
          <a:xfrm>
            <a:off x="5925895" y="1533711"/>
            <a:ext cx="4821424" cy="5033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ADE8A24-9CF2-FB5E-C49C-45E63450BF3A}"/>
              </a:ext>
            </a:extLst>
          </p:cNvPr>
          <p:cNvSpPr txBox="1"/>
          <p:nvPr/>
        </p:nvSpPr>
        <p:spPr>
          <a:xfrm>
            <a:off x="6111909" y="2851882"/>
            <a:ext cx="445426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Website đã hoàn thành nhưng trong đó cần phải phát triển thêm, phát triển chức năng hỗ trợ người dùng khi người dùng cần giúp đỡ, phát triể thêm phần AI tự đề xuất những </a:t>
            </a:r>
            <a:r>
              <a:rPr lang="en-US">
                <a:solidFill>
                  <a:schemeClr val="bg1"/>
                </a:solidFill>
              </a:rPr>
              <a:t>địa điểm đang được yêu thích</a:t>
            </a:r>
            <a:endParaRPr lang="en-US" dirty="0">
              <a:solidFill>
                <a:schemeClr val="bg1"/>
              </a:solidFill>
            </a:endParaRPr>
          </a:p>
        </p:txBody>
      </p:sp>
      <p:sp>
        <p:nvSpPr>
          <p:cNvPr id="9" name="TextBox 8">
            <a:extLst>
              <a:ext uri="{FF2B5EF4-FFF2-40B4-BE49-F238E27FC236}">
                <a16:creationId xmlns:a16="http://schemas.microsoft.com/office/drawing/2014/main" id="{6993682F-828D-5582-DB93-83466282B74C}"/>
              </a:ext>
            </a:extLst>
          </p:cNvPr>
          <p:cNvSpPr txBox="1"/>
          <p:nvPr/>
        </p:nvSpPr>
        <p:spPr>
          <a:xfrm>
            <a:off x="6111909" y="1896358"/>
            <a:ext cx="24585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Hướng phát triển:</a:t>
            </a:r>
            <a:endParaRPr lang="en-US"/>
          </a:p>
        </p:txBody>
      </p:sp>
    </p:spTree>
    <p:extLst>
      <p:ext uri="{BB962C8B-B14F-4D97-AF65-F5344CB8AC3E}">
        <p14:creationId xmlns:p14="http://schemas.microsoft.com/office/powerpoint/2010/main" val="1454306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66B6-4330-5ACD-CCE6-D5BBC3BF3F27}"/>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FEBB541A-A00F-A92C-4306-DD54C84C20CF}"/>
              </a:ext>
            </a:extLst>
          </p:cNvPr>
          <p:cNvSpPr txBox="1"/>
          <p:nvPr/>
        </p:nvSpPr>
        <p:spPr>
          <a:xfrm>
            <a:off x="3843866" y="1172996"/>
            <a:ext cx="621211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9. Kết quả thực nghiệm</a:t>
            </a:r>
          </a:p>
        </p:txBody>
      </p:sp>
      <p:sp>
        <p:nvSpPr>
          <p:cNvPr id="26" name="TextBox 25">
            <a:extLst>
              <a:ext uri="{FF2B5EF4-FFF2-40B4-BE49-F238E27FC236}">
                <a16:creationId xmlns:a16="http://schemas.microsoft.com/office/drawing/2014/main" id="{CFD3AA33-E38B-96E1-9606-2050C86B5DA3}"/>
              </a:ext>
            </a:extLst>
          </p:cNvPr>
          <p:cNvSpPr txBox="1"/>
          <p:nvPr/>
        </p:nvSpPr>
        <p:spPr>
          <a:xfrm>
            <a:off x="-3703562" y="1556082"/>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2.  </a:t>
            </a:r>
            <a:r>
              <a:rPr lang="en-US" sz="2000" dirty="0" err="1"/>
              <a:t>Mục</a:t>
            </a:r>
            <a:r>
              <a:rPr lang="en-US" sz="2000" dirty="0"/>
              <a:t> </a:t>
            </a:r>
            <a:r>
              <a:rPr lang="en-US" sz="2000" dirty="0" err="1"/>
              <a:t>đích</a:t>
            </a:r>
            <a:r>
              <a:rPr lang="en-US" sz="2000" dirty="0"/>
              <a:t> </a:t>
            </a:r>
            <a:r>
              <a:rPr lang="en-US" sz="2000" dirty="0" err="1"/>
              <a:t>nghiên</a:t>
            </a:r>
            <a:r>
              <a:rPr lang="en-US" sz="2000" dirty="0"/>
              <a:t> </a:t>
            </a:r>
            <a:r>
              <a:rPr lang="en-US" sz="2000" dirty="0" err="1"/>
              <a:t>cứu</a:t>
            </a:r>
          </a:p>
        </p:txBody>
      </p:sp>
      <p:sp>
        <p:nvSpPr>
          <p:cNvPr id="28" name="TextBox 27">
            <a:extLst>
              <a:ext uri="{FF2B5EF4-FFF2-40B4-BE49-F238E27FC236}">
                <a16:creationId xmlns:a16="http://schemas.microsoft.com/office/drawing/2014/main" id="{114A84E3-DE5D-F240-D4DC-7CA2832FF32C}"/>
              </a:ext>
            </a:extLst>
          </p:cNvPr>
          <p:cNvSpPr txBox="1"/>
          <p:nvPr/>
        </p:nvSpPr>
        <p:spPr>
          <a:xfrm>
            <a:off x="-3703562" y="1963358"/>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3. </a:t>
            </a:r>
            <a:r>
              <a:rPr lang="en-US" sz="2000" dirty="0" err="1"/>
              <a:t>Cơ</a:t>
            </a:r>
            <a:r>
              <a:rPr lang="en-US" sz="2000" dirty="0"/>
              <a:t> </a:t>
            </a:r>
            <a:r>
              <a:rPr lang="en-US" sz="2000" dirty="0" err="1"/>
              <a:t>sở</a:t>
            </a:r>
            <a:r>
              <a:rPr lang="en-US" sz="2000" dirty="0"/>
              <a:t> </a:t>
            </a:r>
            <a:r>
              <a:rPr lang="en-US" sz="2000" dirty="0" err="1"/>
              <a:t>lý</a:t>
            </a:r>
            <a:r>
              <a:rPr lang="en-US" sz="2000" dirty="0"/>
              <a:t> </a:t>
            </a:r>
            <a:r>
              <a:rPr lang="en-US" sz="2000" dirty="0" err="1"/>
              <a:t>thuyết</a:t>
            </a:r>
            <a:endParaRPr lang="en-US" dirty="0" err="1"/>
          </a:p>
        </p:txBody>
      </p:sp>
      <p:sp>
        <p:nvSpPr>
          <p:cNvPr id="29" name="TextBox 28">
            <a:extLst>
              <a:ext uri="{FF2B5EF4-FFF2-40B4-BE49-F238E27FC236}">
                <a16:creationId xmlns:a16="http://schemas.microsoft.com/office/drawing/2014/main" id="{AB2A6E74-A690-05F9-002B-F3FCF378F063}"/>
              </a:ext>
            </a:extLst>
          </p:cNvPr>
          <p:cNvSpPr txBox="1"/>
          <p:nvPr/>
        </p:nvSpPr>
        <p:spPr>
          <a:xfrm>
            <a:off x="-3703562" y="2357496"/>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4. </a:t>
            </a:r>
            <a:r>
              <a:rPr lang="en-US" sz="2000" dirty="0" err="1"/>
              <a:t>Mô</a:t>
            </a:r>
            <a:r>
              <a:rPr lang="en-US" sz="2000" dirty="0"/>
              <a:t> </a:t>
            </a:r>
            <a:r>
              <a:rPr lang="en-US" sz="2000" dirty="0" err="1"/>
              <a:t>tả</a:t>
            </a:r>
            <a:r>
              <a:rPr lang="en-US" sz="2000" dirty="0"/>
              <a:t> </a:t>
            </a:r>
            <a:r>
              <a:rPr lang="en-US" sz="2000" dirty="0" err="1"/>
              <a:t>bài</a:t>
            </a:r>
            <a:r>
              <a:rPr lang="en-US" sz="2000" dirty="0"/>
              <a:t> </a:t>
            </a:r>
            <a:r>
              <a:rPr lang="en-US" sz="2000" dirty="0" err="1"/>
              <a:t>toán</a:t>
            </a:r>
            <a:endParaRPr lang="en-US" dirty="0" err="1"/>
          </a:p>
        </p:txBody>
      </p:sp>
      <p:sp>
        <p:nvSpPr>
          <p:cNvPr id="30" name="TextBox 29">
            <a:extLst>
              <a:ext uri="{FF2B5EF4-FFF2-40B4-BE49-F238E27FC236}">
                <a16:creationId xmlns:a16="http://schemas.microsoft.com/office/drawing/2014/main" id="{B29FDE5B-7A51-F9B8-FB6C-1DC3449BBD28}"/>
              </a:ext>
            </a:extLst>
          </p:cNvPr>
          <p:cNvSpPr txBox="1"/>
          <p:nvPr/>
        </p:nvSpPr>
        <p:spPr>
          <a:xfrm>
            <a:off x="-3703562" y="2751634"/>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5. </a:t>
            </a:r>
            <a:r>
              <a:rPr lang="en-US" sz="2000" dirty="0" err="1"/>
              <a:t>Yêu</a:t>
            </a:r>
            <a:r>
              <a:rPr lang="en-US" sz="2000" dirty="0"/>
              <a:t> </a:t>
            </a:r>
            <a:r>
              <a:rPr lang="en-US" sz="2000" dirty="0" err="1"/>
              <a:t>cầu</a:t>
            </a:r>
            <a:r>
              <a:rPr lang="en-US" sz="2000" dirty="0"/>
              <a:t> </a:t>
            </a:r>
            <a:r>
              <a:rPr lang="en-US" sz="2000" dirty="0" err="1"/>
              <a:t>chức</a:t>
            </a:r>
            <a:r>
              <a:rPr lang="en-US" sz="2000" dirty="0"/>
              <a:t> </a:t>
            </a:r>
            <a:r>
              <a:rPr lang="en-US" sz="2000" dirty="0" err="1"/>
              <a:t>năng</a:t>
            </a:r>
            <a:endParaRPr lang="en-US" dirty="0" err="1"/>
          </a:p>
        </p:txBody>
      </p:sp>
      <p:sp>
        <p:nvSpPr>
          <p:cNvPr id="31" name="TextBox 30">
            <a:extLst>
              <a:ext uri="{FF2B5EF4-FFF2-40B4-BE49-F238E27FC236}">
                <a16:creationId xmlns:a16="http://schemas.microsoft.com/office/drawing/2014/main" id="{0A5B77E5-4F61-2EDD-38F9-180A208163CD}"/>
              </a:ext>
            </a:extLst>
          </p:cNvPr>
          <p:cNvSpPr txBox="1"/>
          <p:nvPr/>
        </p:nvSpPr>
        <p:spPr>
          <a:xfrm>
            <a:off x="-3703562" y="3145772"/>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6. </a:t>
            </a:r>
            <a:r>
              <a:rPr lang="en-US" sz="2000" dirty="0" err="1"/>
              <a:t>Yêu</a:t>
            </a:r>
            <a:r>
              <a:rPr lang="en-US" sz="2000" dirty="0"/>
              <a:t> </a:t>
            </a:r>
            <a:r>
              <a:rPr lang="en-US" sz="2000" dirty="0" err="1"/>
              <a:t>cầu</a:t>
            </a:r>
            <a:r>
              <a:rPr lang="en-US" sz="2000" dirty="0"/>
              <a:t> phi </a:t>
            </a:r>
            <a:r>
              <a:rPr lang="en-US" sz="2000" dirty="0" err="1"/>
              <a:t>chức</a:t>
            </a:r>
            <a:r>
              <a:rPr lang="en-US" sz="2000" dirty="0"/>
              <a:t> </a:t>
            </a:r>
            <a:r>
              <a:rPr lang="en-US" sz="2000" dirty="0" err="1"/>
              <a:t>năng</a:t>
            </a:r>
            <a:endParaRPr lang="en-US" dirty="0" err="1"/>
          </a:p>
        </p:txBody>
      </p:sp>
      <p:sp>
        <p:nvSpPr>
          <p:cNvPr id="32" name="TextBox 31">
            <a:extLst>
              <a:ext uri="{FF2B5EF4-FFF2-40B4-BE49-F238E27FC236}">
                <a16:creationId xmlns:a16="http://schemas.microsoft.com/office/drawing/2014/main" id="{FFB0026C-6E85-D18F-BD8F-EB431C4AC98B}"/>
              </a:ext>
            </a:extLst>
          </p:cNvPr>
          <p:cNvSpPr txBox="1"/>
          <p:nvPr/>
        </p:nvSpPr>
        <p:spPr>
          <a:xfrm>
            <a:off x="-3703562" y="353991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7. </a:t>
            </a:r>
            <a:r>
              <a:rPr lang="en-US" sz="2000" dirty="0" err="1"/>
              <a:t>Cơ</a:t>
            </a:r>
            <a:r>
              <a:rPr lang="en-US" sz="2000" dirty="0"/>
              <a:t> </a:t>
            </a:r>
            <a:r>
              <a:rPr lang="en-US" sz="2000" dirty="0" err="1"/>
              <a:t>sở</a:t>
            </a:r>
            <a:r>
              <a:rPr lang="en-US" sz="2000" dirty="0"/>
              <a:t> </a:t>
            </a:r>
            <a:r>
              <a:rPr lang="en-US" sz="2000" dirty="0" err="1"/>
              <a:t>dữ</a:t>
            </a:r>
            <a:r>
              <a:rPr lang="en-US" sz="2000" dirty="0"/>
              <a:t> </a:t>
            </a:r>
            <a:r>
              <a:rPr lang="en-US" sz="2000" dirty="0" err="1"/>
              <a:t>liệu</a:t>
            </a:r>
            <a:endParaRPr lang="en-US" dirty="0" err="1"/>
          </a:p>
        </p:txBody>
      </p:sp>
      <p:sp>
        <p:nvSpPr>
          <p:cNvPr id="33" name="TextBox 32">
            <a:extLst>
              <a:ext uri="{FF2B5EF4-FFF2-40B4-BE49-F238E27FC236}">
                <a16:creationId xmlns:a16="http://schemas.microsoft.com/office/drawing/2014/main" id="{34D44296-2200-EF78-2940-0CCD374D580B}"/>
              </a:ext>
            </a:extLst>
          </p:cNvPr>
          <p:cNvSpPr txBox="1"/>
          <p:nvPr/>
        </p:nvSpPr>
        <p:spPr>
          <a:xfrm>
            <a:off x="-3703562" y="3934048"/>
            <a:ext cx="36339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8. </a:t>
            </a:r>
            <a:r>
              <a:rPr lang="en-US" sz="2000" dirty="0" err="1"/>
              <a:t>Kết</a:t>
            </a:r>
            <a:r>
              <a:rPr lang="en-US" sz="2000" dirty="0"/>
              <a:t> </a:t>
            </a:r>
            <a:r>
              <a:rPr lang="en-US" sz="2000" dirty="0" err="1"/>
              <a:t>luận</a:t>
            </a:r>
            <a:r>
              <a:rPr lang="en-US" sz="2000" dirty="0"/>
              <a:t> </a:t>
            </a:r>
            <a:r>
              <a:rPr lang="en-US" sz="2000" dirty="0" err="1"/>
              <a:t>và</a:t>
            </a:r>
            <a:r>
              <a:rPr lang="en-US" sz="2000" dirty="0"/>
              <a:t> </a:t>
            </a:r>
            <a:r>
              <a:rPr lang="en-US" sz="2000" dirty="0" err="1"/>
              <a:t>hướng</a:t>
            </a:r>
            <a:r>
              <a:rPr lang="en-US" sz="2000" dirty="0"/>
              <a:t> </a:t>
            </a:r>
            <a:r>
              <a:rPr lang="en-US" sz="2000" dirty="0" err="1"/>
              <a:t>phát</a:t>
            </a:r>
            <a:r>
              <a:rPr lang="en-US" sz="2000" dirty="0"/>
              <a:t> </a:t>
            </a:r>
            <a:r>
              <a:rPr lang="en-US" sz="2000" dirty="0" err="1"/>
              <a:t>triển</a:t>
            </a:r>
            <a:endParaRPr lang="en-US" dirty="0" err="1"/>
          </a:p>
        </p:txBody>
      </p:sp>
      <p:sp>
        <p:nvSpPr>
          <p:cNvPr id="34" name="TextBox 33">
            <a:extLst>
              <a:ext uri="{FF2B5EF4-FFF2-40B4-BE49-F238E27FC236}">
                <a16:creationId xmlns:a16="http://schemas.microsoft.com/office/drawing/2014/main" id="{64DDF051-FD39-9931-F713-163DF5E85296}"/>
              </a:ext>
            </a:extLst>
          </p:cNvPr>
          <p:cNvSpPr txBox="1"/>
          <p:nvPr/>
        </p:nvSpPr>
        <p:spPr>
          <a:xfrm>
            <a:off x="-3703562" y="4328186"/>
            <a:ext cx="36339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9. </a:t>
            </a:r>
            <a:r>
              <a:rPr lang="en-US" sz="2000" dirty="0" err="1"/>
              <a:t>Kết</a:t>
            </a:r>
            <a:r>
              <a:rPr lang="en-US" sz="2000" dirty="0"/>
              <a:t> </a:t>
            </a:r>
            <a:r>
              <a:rPr lang="en-US" sz="2000" dirty="0" err="1"/>
              <a:t>quả</a:t>
            </a:r>
            <a:r>
              <a:rPr lang="en-US" sz="2000" dirty="0"/>
              <a:t> </a:t>
            </a:r>
            <a:r>
              <a:rPr lang="en-US" sz="2000" dirty="0" err="1"/>
              <a:t>thực</a:t>
            </a:r>
            <a:r>
              <a:rPr lang="en-US" sz="2000" dirty="0"/>
              <a:t> </a:t>
            </a:r>
            <a:r>
              <a:rPr lang="en-US" sz="2000" dirty="0" err="1"/>
              <a:t>nghiệm</a:t>
            </a:r>
            <a:endParaRPr lang="en-US" dirty="0" err="1"/>
          </a:p>
        </p:txBody>
      </p:sp>
      <p:sp>
        <p:nvSpPr>
          <p:cNvPr id="4" name="TextBox 3">
            <a:extLst>
              <a:ext uri="{FF2B5EF4-FFF2-40B4-BE49-F238E27FC236}">
                <a16:creationId xmlns:a16="http://schemas.microsoft.com/office/drawing/2014/main" id="{B9356EB9-6CB1-B159-CD15-9D010B2EA304}"/>
              </a:ext>
            </a:extLst>
          </p:cNvPr>
          <p:cNvSpPr txBox="1"/>
          <p:nvPr/>
        </p:nvSpPr>
        <p:spPr>
          <a:xfrm>
            <a:off x="741624" y="2851883"/>
            <a:ext cx="445426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Dự án xây dựng website quảng bá và đặt vé </a:t>
            </a:r>
            <a:r>
              <a:rPr lang="en-US">
                <a:solidFill>
                  <a:schemeClr val="bg1"/>
                </a:solidFill>
              </a:rPr>
              <a:t>du lịch Việt Nam đạ kết quả tích  cực:</a:t>
            </a:r>
            <a:endParaRPr lang="en-US" dirty="0">
              <a:solidFill>
                <a:schemeClr val="bg1"/>
              </a:solidFill>
            </a:endParaRPr>
          </a:p>
          <a:p>
            <a:endParaRPr lang="en-US" dirty="0">
              <a:solidFill>
                <a:schemeClr val="bg1"/>
              </a:solidFill>
            </a:endParaRPr>
          </a:p>
          <a:p>
            <a:r>
              <a:rPr lang="en-US" dirty="0">
                <a:solidFill>
                  <a:schemeClr val="bg1"/>
                </a:solidFill>
              </a:rPr>
              <a:t>Xây dựng website thân thiện, dễ dàng thao tác, hoàn thành đươc các chức năng của người dùng và quản trị viên giúp người dùng dễ thao tác trong quá trình tìm kiếm địa điểm du lịch và đặt vé, quản trị viên thao </a:t>
            </a:r>
            <a:r>
              <a:rPr lang="en-US">
                <a:solidFill>
                  <a:schemeClr val="bg1"/>
                </a:solidFill>
              </a:rPr>
              <a:t>tác đơn giản giúp thuận tiện trong việc quảng bá.</a:t>
            </a:r>
            <a:endParaRPr lang="en-US" dirty="0">
              <a:solidFill>
                <a:schemeClr val="bg1"/>
              </a:solidFill>
            </a:endParaRPr>
          </a:p>
        </p:txBody>
      </p:sp>
      <p:sp>
        <p:nvSpPr>
          <p:cNvPr id="6" name="TextBox 5">
            <a:extLst>
              <a:ext uri="{FF2B5EF4-FFF2-40B4-BE49-F238E27FC236}">
                <a16:creationId xmlns:a16="http://schemas.microsoft.com/office/drawing/2014/main" id="{17C446DB-4589-83EA-8D9D-49F1ED2BB251}"/>
              </a:ext>
            </a:extLst>
          </p:cNvPr>
          <p:cNvSpPr txBox="1"/>
          <p:nvPr/>
        </p:nvSpPr>
        <p:spPr>
          <a:xfrm>
            <a:off x="741624" y="1896359"/>
            <a:ext cx="24585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Kết luận:</a:t>
            </a:r>
            <a:endParaRPr lang="en-US" dirty="0">
              <a:solidFill>
                <a:schemeClr val="bg1"/>
              </a:solidFill>
            </a:endParaRPr>
          </a:p>
        </p:txBody>
      </p:sp>
      <p:sp>
        <p:nvSpPr>
          <p:cNvPr id="8" name="TextBox 7">
            <a:extLst>
              <a:ext uri="{FF2B5EF4-FFF2-40B4-BE49-F238E27FC236}">
                <a16:creationId xmlns:a16="http://schemas.microsoft.com/office/drawing/2014/main" id="{447EB97D-7AFF-FF8B-4F54-B4060E822670}"/>
              </a:ext>
            </a:extLst>
          </p:cNvPr>
          <p:cNvSpPr txBox="1"/>
          <p:nvPr/>
        </p:nvSpPr>
        <p:spPr>
          <a:xfrm>
            <a:off x="6111909" y="2851882"/>
            <a:ext cx="445426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Website đã hoàn thành nhưng trong đó cần phải phát triển thêm, phát triển chức năng hỗ trợ người dùng khi người dùng cần giúp đỡ, phát triể thêm phần AI tự đề xuất những </a:t>
            </a:r>
            <a:r>
              <a:rPr lang="en-US">
                <a:solidFill>
                  <a:schemeClr val="bg1"/>
                </a:solidFill>
              </a:rPr>
              <a:t>địa điểm đang được yêu thích</a:t>
            </a:r>
            <a:endParaRPr lang="en-US" dirty="0">
              <a:solidFill>
                <a:schemeClr val="bg1"/>
              </a:solidFill>
            </a:endParaRPr>
          </a:p>
        </p:txBody>
      </p:sp>
      <p:sp>
        <p:nvSpPr>
          <p:cNvPr id="9" name="TextBox 8">
            <a:extLst>
              <a:ext uri="{FF2B5EF4-FFF2-40B4-BE49-F238E27FC236}">
                <a16:creationId xmlns:a16="http://schemas.microsoft.com/office/drawing/2014/main" id="{40CB8462-300C-3BD1-E32E-9D4EB21A93D7}"/>
              </a:ext>
            </a:extLst>
          </p:cNvPr>
          <p:cNvSpPr txBox="1"/>
          <p:nvPr/>
        </p:nvSpPr>
        <p:spPr>
          <a:xfrm>
            <a:off x="6111909" y="1896358"/>
            <a:ext cx="24585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Hướng phát triển:</a:t>
            </a:r>
            <a:endParaRPr lang="en-US"/>
          </a:p>
        </p:txBody>
      </p:sp>
    </p:spTree>
    <p:extLst>
      <p:ext uri="{BB962C8B-B14F-4D97-AF65-F5344CB8AC3E}">
        <p14:creationId xmlns:p14="http://schemas.microsoft.com/office/powerpoint/2010/main" val="783543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0283C-754A-B50F-6459-2A86043FA22C}"/>
            </a:ext>
          </a:extLst>
        </p:cNvPr>
        <p:cNvGrpSpPr/>
        <p:nvPr/>
      </p:nvGrpSpPr>
      <p:grpSpPr>
        <a:xfrm>
          <a:off x="0" y="0"/>
          <a:ext cx="0" cy="0"/>
          <a:chOff x="0" y="0"/>
          <a:chExt cx="0" cy="0"/>
        </a:xfrm>
      </p:grpSpPr>
      <p:sp>
        <p:nvSpPr>
          <p:cNvPr id="26" name="TextBox 25">
            <a:extLst>
              <a:ext uri="{FF2B5EF4-FFF2-40B4-BE49-F238E27FC236}">
                <a16:creationId xmlns:a16="http://schemas.microsoft.com/office/drawing/2014/main" id="{22A4C3B3-69A4-6F8A-B23B-DBF1C3907BB6}"/>
              </a:ext>
            </a:extLst>
          </p:cNvPr>
          <p:cNvSpPr txBox="1"/>
          <p:nvPr/>
        </p:nvSpPr>
        <p:spPr>
          <a:xfrm>
            <a:off x="-3703562" y="1556082"/>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2.  </a:t>
            </a:r>
            <a:r>
              <a:rPr lang="en-US" sz="2000" dirty="0" err="1"/>
              <a:t>Mục</a:t>
            </a:r>
            <a:r>
              <a:rPr lang="en-US" sz="2000" dirty="0"/>
              <a:t> </a:t>
            </a:r>
            <a:r>
              <a:rPr lang="en-US" sz="2000" dirty="0" err="1"/>
              <a:t>đích</a:t>
            </a:r>
            <a:r>
              <a:rPr lang="en-US" sz="2000" dirty="0"/>
              <a:t> </a:t>
            </a:r>
            <a:r>
              <a:rPr lang="en-US" sz="2000" dirty="0" err="1"/>
              <a:t>nghiên</a:t>
            </a:r>
            <a:r>
              <a:rPr lang="en-US" sz="2000" dirty="0"/>
              <a:t> </a:t>
            </a:r>
            <a:r>
              <a:rPr lang="en-US" sz="2000" dirty="0" err="1"/>
              <a:t>cứu</a:t>
            </a:r>
          </a:p>
        </p:txBody>
      </p:sp>
      <p:sp>
        <p:nvSpPr>
          <p:cNvPr id="28" name="TextBox 27">
            <a:extLst>
              <a:ext uri="{FF2B5EF4-FFF2-40B4-BE49-F238E27FC236}">
                <a16:creationId xmlns:a16="http://schemas.microsoft.com/office/drawing/2014/main" id="{9C0A8129-F3AC-D239-8892-AD9BD321D6F6}"/>
              </a:ext>
            </a:extLst>
          </p:cNvPr>
          <p:cNvSpPr txBox="1"/>
          <p:nvPr/>
        </p:nvSpPr>
        <p:spPr>
          <a:xfrm>
            <a:off x="-3703562" y="1963358"/>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3. </a:t>
            </a:r>
            <a:r>
              <a:rPr lang="en-US" sz="2000" dirty="0" err="1"/>
              <a:t>Cơ</a:t>
            </a:r>
            <a:r>
              <a:rPr lang="en-US" sz="2000" dirty="0"/>
              <a:t> </a:t>
            </a:r>
            <a:r>
              <a:rPr lang="en-US" sz="2000" dirty="0" err="1"/>
              <a:t>sở</a:t>
            </a:r>
            <a:r>
              <a:rPr lang="en-US" sz="2000" dirty="0"/>
              <a:t> </a:t>
            </a:r>
            <a:r>
              <a:rPr lang="en-US" sz="2000" dirty="0" err="1"/>
              <a:t>lý</a:t>
            </a:r>
            <a:r>
              <a:rPr lang="en-US" sz="2000" dirty="0"/>
              <a:t> </a:t>
            </a:r>
            <a:r>
              <a:rPr lang="en-US" sz="2000" dirty="0" err="1"/>
              <a:t>thuyết</a:t>
            </a:r>
            <a:endParaRPr lang="en-US" dirty="0" err="1"/>
          </a:p>
        </p:txBody>
      </p:sp>
      <p:sp>
        <p:nvSpPr>
          <p:cNvPr id="29" name="TextBox 28">
            <a:extLst>
              <a:ext uri="{FF2B5EF4-FFF2-40B4-BE49-F238E27FC236}">
                <a16:creationId xmlns:a16="http://schemas.microsoft.com/office/drawing/2014/main" id="{0585BA63-A92B-EAD5-70A4-619CD060342E}"/>
              </a:ext>
            </a:extLst>
          </p:cNvPr>
          <p:cNvSpPr txBox="1"/>
          <p:nvPr/>
        </p:nvSpPr>
        <p:spPr>
          <a:xfrm>
            <a:off x="-3703562" y="2357496"/>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4. </a:t>
            </a:r>
            <a:r>
              <a:rPr lang="en-US" sz="2000" dirty="0" err="1"/>
              <a:t>Mô</a:t>
            </a:r>
            <a:r>
              <a:rPr lang="en-US" sz="2000" dirty="0"/>
              <a:t> </a:t>
            </a:r>
            <a:r>
              <a:rPr lang="en-US" sz="2000" dirty="0" err="1"/>
              <a:t>tả</a:t>
            </a:r>
            <a:r>
              <a:rPr lang="en-US" sz="2000" dirty="0"/>
              <a:t> </a:t>
            </a:r>
            <a:r>
              <a:rPr lang="en-US" sz="2000" dirty="0" err="1"/>
              <a:t>bài</a:t>
            </a:r>
            <a:r>
              <a:rPr lang="en-US" sz="2000" dirty="0"/>
              <a:t> </a:t>
            </a:r>
            <a:r>
              <a:rPr lang="en-US" sz="2000" dirty="0" err="1"/>
              <a:t>toán</a:t>
            </a:r>
            <a:endParaRPr lang="en-US" dirty="0" err="1"/>
          </a:p>
        </p:txBody>
      </p:sp>
      <p:sp>
        <p:nvSpPr>
          <p:cNvPr id="30" name="TextBox 29">
            <a:extLst>
              <a:ext uri="{FF2B5EF4-FFF2-40B4-BE49-F238E27FC236}">
                <a16:creationId xmlns:a16="http://schemas.microsoft.com/office/drawing/2014/main" id="{3B97F4F2-728C-3B69-8C57-A7A05D1C9C46}"/>
              </a:ext>
            </a:extLst>
          </p:cNvPr>
          <p:cNvSpPr txBox="1"/>
          <p:nvPr/>
        </p:nvSpPr>
        <p:spPr>
          <a:xfrm>
            <a:off x="-3703562" y="2751634"/>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5. </a:t>
            </a:r>
            <a:r>
              <a:rPr lang="en-US" sz="2000" dirty="0" err="1"/>
              <a:t>Yêu</a:t>
            </a:r>
            <a:r>
              <a:rPr lang="en-US" sz="2000" dirty="0"/>
              <a:t> </a:t>
            </a:r>
            <a:r>
              <a:rPr lang="en-US" sz="2000" dirty="0" err="1"/>
              <a:t>cầu</a:t>
            </a:r>
            <a:r>
              <a:rPr lang="en-US" sz="2000" dirty="0"/>
              <a:t> </a:t>
            </a:r>
            <a:r>
              <a:rPr lang="en-US" sz="2000" dirty="0" err="1"/>
              <a:t>chức</a:t>
            </a:r>
            <a:r>
              <a:rPr lang="en-US" sz="2000" dirty="0"/>
              <a:t> </a:t>
            </a:r>
            <a:r>
              <a:rPr lang="en-US" sz="2000" dirty="0" err="1"/>
              <a:t>năng</a:t>
            </a:r>
            <a:endParaRPr lang="en-US" dirty="0" err="1"/>
          </a:p>
        </p:txBody>
      </p:sp>
      <p:sp>
        <p:nvSpPr>
          <p:cNvPr id="31" name="TextBox 30">
            <a:extLst>
              <a:ext uri="{FF2B5EF4-FFF2-40B4-BE49-F238E27FC236}">
                <a16:creationId xmlns:a16="http://schemas.microsoft.com/office/drawing/2014/main" id="{D6833AF7-E5A1-D711-E3B7-92D3CA15D1B5}"/>
              </a:ext>
            </a:extLst>
          </p:cNvPr>
          <p:cNvSpPr txBox="1"/>
          <p:nvPr/>
        </p:nvSpPr>
        <p:spPr>
          <a:xfrm>
            <a:off x="-3703562" y="3145772"/>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6. </a:t>
            </a:r>
            <a:r>
              <a:rPr lang="en-US" sz="2000" dirty="0" err="1"/>
              <a:t>Yêu</a:t>
            </a:r>
            <a:r>
              <a:rPr lang="en-US" sz="2000" dirty="0"/>
              <a:t> </a:t>
            </a:r>
            <a:r>
              <a:rPr lang="en-US" sz="2000" dirty="0" err="1"/>
              <a:t>cầu</a:t>
            </a:r>
            <a:r>
              <a:rPr lang="en-US" sz="2000" dirty="0"/>
              <a:t> phi </a:t>
            </a:r>
            <a:r>
              <a:rPr lang="en-US" sz="2000" dirty="0" err="1"/>
              <a:t>chức</a:t>
            </a:r>
            <a:r>
              <a:rPr lang="en-US" sz="2000" dirty="0"/>
              <a:t> </a:t>
            </a:r>
            <a:r>
              <a:rPr lang="en-US" sz="2000" dirty="0" err="1"/>
              <a:t>năng</a:t>
            </a:r>
            <a:endParaRPr lang="en-US" dirty="0" err="1"/>
          </a:p>
        </p:txBody>
      </p:sp>
      <p:sp>
        <p:nvSpPr>
          <p:cNvPr id="32" name="TextBox 31">
            <a:extLst>
              <a:ext uri="{FF2B5EF4-FFF2-40B4-BE49-F238E27FC236}">
                <a16:creationId xmlns:a16="http://schemas.microsoft.com/office/drawing/2014/main" id="{B06BBD69-EE33-EDD6-C8AC-10FA093A117D}"/>
              </a:ext>
            </a:extLst>
          </p:cNvPr>
          <p:cNvSpPr txBox="1"/>
          <p:nvPr/>
        </p:nvSpPr>
        <p:spPr>
          <a:xfrm>
            <a:off x="-3703562" y="3539910"/>
            <a:ext cx="320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7. </a:t>
            </a:r>
            <a:r>
              <a:rPr lang="en-US" sz="2000" dirty="0" err="1"/>
              <a:t>Cơ</a:t>
            </a:r>
            <a:r>
              <a:rPr lang="en-US" sz="2000" dirty="0"/>
              <a:t> </a:t>
            </a:r>
            <a:r>
              <a:rPr lang="en-US" sz="2000" dirty="0" err="1"/>
              <a:t>sở</a:t>
            </a:r>
            <a:r>
              <a:rPr lang="en-US" sz="2000" dirty="0"/>
              <a:t> </a:t>
            </a:r>
            <a:r>
              <a:rPr lang="en-US" sz="2000" dirty="0" err="1"/>
              <a:t>dữ</a:t>
            </a:r>
            <a:r>
              <a:rPr lang="en-US" sz="2000" dirty="0"/>
              <a:t> </a:t>
            </a:r>
            <a:r>
              <a:rPr lang="en-US" sz="2000" dirty="0" err="1"/>
              <a:t>liệu</a:t>
            </a:r>
            <a:endParaRPr lang="en-US" dirty="0" err="1"/>
          </a:p>
        </p:txBody>
      </p:sp>
      <p:pic>
        <p:nvPicPr>
          <p:cNvPr id="2" name="Picture 1" descr="A building on a hill with trees and mountains in the background&#10;&#10;AI-generated content may be incorrect.">
            <a:extLst>
              <a:ext uri="{FF2B5EF4-FFF2-40B4-BE49-F238E27FC236}">
                <a16:creationId xmlns:a16="http://schemas.microsoft.com/office/drawing/2014/main" id="{EFBC7C2C-6A29-E1A4-D0EA-821A2F0525DE}"/>
              </a:ext>
            </a:extLst>
          </p:cNvPr>
          <p:cNvPicPr>
            <a:picLocks noChangeAspect="1"/>
          </p:cNvPicPr>
          <p:nvPr/>
        </p:nvPicPr>
        <p:blipFill>
          <a:blip r:embed="rId2"/>
          <a:stretch>
            <a:fillRect/>
          </a:stretch>
        </p:blipFill>
        <p:spPr>
          <a:xfrm>
            <a:off x="2101514" y="713618"/>
            <a:ext cx="8400209" cy="5648476"/>
          </a:xfrm>
          <a:prstGeom prst="rect">
            <a:avLst/>
          </a:prstGeom>
        </p:spPr>
      </p:pic>
      <p:sp>
        <p:nvSpPr>
          <p:cNvPr id="33" name="TextBox 32">
            <a:extLst>
              <a:ext uri="{FF2B5EF4-FFF2-40B4-BE49-F238E27FC236}">
                <a16:creationId xmlns:a16="http://schemas.microsoft.com/office/drawing/2014/main" id="{B652FBBA-820B-DF75-04F3-51FE577A8E44}"/>
              </a:ext>
            </a:extLst>
          </p:cNvPr>
          <p:cNvSpPr txBox="1"/>
          <p:nvPr/>
        </p:nvSpPr>
        <p:spPr>
          <a:xfrm>
            <a:off x="-3703562" y="3934048"/>
            <a:ext cx="36339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8. </a:t>
            </a:r>
            <a:r>
              <a:rPr lang="en-US" sz="2000" dirty="0" err="1"/>
              <a:t>Kết</a:t>
            </a:r>
            <a:r>
              <a:rPr lang="en-US" sz="2000" dirty="0"/>
              <a:t> </a:t>
            </a:r>
            <a:r>
              <a:rPr lang="en-US" sz="2000" dirty="0" err="1"/>
              <a:t>luận</a:t>
            </a:r>
            <a:r>
              <a:rPr lang="en-US" sz="2000" dirty="0"/>
              <a:t> </a:t>
            </a:r>
            <a:r>
              <a:rPr lang="en-US" sz="2000" dirty="0" err="1"/>
              <a:t>và</a:t>
            </a:r>
            <a:r>
              <a:rPr lang="en-US" sz="2000" dirty="0"/>
              <a:t> </a:t>
            </a:r>
            <a:r>
              <a:rPr lang="en-US" sz="2000" dirty="0" err="1"/>
              <a:t>hướng</a:t>
            </a:r>
            <a:r>
              <a:rPr lang="en-US" sz="2000" dirty="0"/>
              <a:t> </a:t>
            </a:r>
            <a:r>
              <a:rPr lang="en-US" sz="2000" dirty="0" err="1"/>
              <a:t>phát</a:t>
            </a:r>
            <a:r>
              <a:rPr lang="en-US" sz="2000" dirty="0"/>
              <a:t> </a:t>
            </a:r>
            <a:r>
              <a:rPr lang="en-US" sz="2000" dirty="0" err="1"/>
              <a:t>triển</a:t>
            </a:r>
            <a:endParaRPr lang="en-US" dirty="0" err="1"/>
          </a:p>
        </p:txBody>
      </p:sp>
      <p:sp>
        <p:nvSpPr>
          <p:cNvPr id="34" name="TextBox 33">
            <a:extLst>
              <a:ext uri="{FF2B5EF4-FFF2-40B4-BE49-F238E27FC236}">
                <a16:creationId xmlns:a16="http://schemas.microsoft.com/office/drawing/2014/main" id="{9C3EB712-9DCD-F35E-8C6A-3815090C0882}"/>
              </a:ext>
            </a:extLst>
          </p:cNvPr>
          <p:cNvSpPr txBox="1"/>
          <p:nvPr/>
        </p:nvSpPr>
        <p:spPr>
          <a:xfrm>
            <a:off x="-3703562" y="4328186"/>
            <a:ext cx="36339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9. </a:t>
            </a:r>
            <a:r>
              <a:rPr lang="en-US" sz="2000" dirty="0" err="1"/>
              <a:t>Kết</a:t>
            </a:r>
            <a:r>
              <a:rPr lang="en-US" sz="2000" dirty="0"/>
              <a:t> </a:t>
            </a:r>
            <a:r>
              <a:rPr lang="en-US" sz="2000" dirty="0" err="1"/>
              <a:t>quả</a:t>
            </a:r>
            <a:r>
              <a:rPr lang="en-US" sz="2000" dirty="0"/>
              <a:t> </a:t>
            </a:r>
            <a:r>
              <a:rPr lang="en-US" sz="2000" dirty="0" err="1"/>
              <a:t>thực</a:t>
            </a:r>
            <a:r>
              <a:rPr lang="en-US" sz="2000" dirty="0"/>
              <a:t> </a:t>
            </a:r>
            <a:r>
              <a:rPr lang="en-US" sz="2000" dirty="0" err="1"/>
              <a:t>nghiệm</a:t>
            </a:r>
            <a:endParaRPr lang="en-US" dirty="0" err="1"/>
          </a:p>
        </p:txBody>
      </p:sp>
      <p:sp>
        <p:nvSpPr>
          <p:cNvPr id="6" name="TextBox 5">
            <a:extLst>
              <a:ext uri="{FF2B5EF4-FFF2-40B4-BE49-F238E27FC236}">
                <a16:creationId xmlns:a16="http://schemas.microsoft.com/office/drawing/2014/main" id="{F47FC18B-8CAC-D940-E782-3E5854C64ED1}"/>
              </a:ext>
            </a:extLst>
          </p:cNvPr>
          <p:cNvSpPr txBox="1"/>
          <p:nvPr/>
        </p:nvSpPr>
        <p:spPr>
          <a:xfrm>
            <a:off x="741624" y="1896359"/>
            <a:ext cx="24585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Kết luận:</a:t>
            </a:r>
            <a:endParaRPr lang="en-US" dirty="0">
              <a:solidFill>
                <a:schemeClr val="bg1"/>
              </a:solidFill>
            </a:endParaRPr>
          </a:p>
        </p:txBody>
      </p:sp>
      <p:sp>
        <p:nvSpPr>
          <p:cNvPr id="24" name="TextBox 23">
            <a:extLst>
              <a:ext uri="{FF2B5EF4-FFF2-40B4-BE49-F238E27FC236}">
                <a16:creationId xmlns:a16="http://schemas.microsoft.com/office/drawing/2014/main" id="{1CB80073-49B7-8524-C374-DAC23C5E3EE8}"/>
              </a:ext>
            </a:extLst>
          </p:cNvPr>
          <p:cNvSpPr txBox="1"/>
          <p:nvPr/>
        </p:nvSpPr>
        <p:spPr>
          <a:xfrm>
            <a:off x="3686627" y="2757472"/>
            <a:ext cx="5933923" cy="1089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bg1"/>
                </a:solidFill>
              </a:rPr>
              <a:t>Cảm ơn quý thầy cô đã lắng nghe phần trình </a:t>
            </a:r>
            <a:r>
              <a:rPr lang="en-US" sz="3200" b="1" dirty="0">
                <a:solidFill>
                  <a:schemeClr val="bg1"/>
                </a:solidFill>
              </a:rPr>
              <a:t>bày của em!</a:t>
            </a:r>
            <a:endParaRPr lang="en-US" b="1">
              <a:solidFill>
                <a:schemeClr val="bg1"/>
              </a:solidFill>
            </a:endParaRPr>
          </a:p>
        </p:txBody>
      </p:sp>
    </p:spTree>
    <p:extLst>
      <p:ext uri="{BB962C8B-B14F-4D97-AF65-F5344CB8AC3E}">
        <p14:creationId xmlns:p14="http://schemas.microsoft.com/office/powerpoint/2010/main" val="667448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698</cp:revision>
  <dcterms:created xsi:type="dcterms:W3CDTF">2026-01-08T06:26:04Z</dcterms:created>
  <dcterms:modified xsi:type="dcterms:W3CDTF">2026-01-08T08:30:45Z</dcterms:modified>
</cp:coreProperties>
</file>